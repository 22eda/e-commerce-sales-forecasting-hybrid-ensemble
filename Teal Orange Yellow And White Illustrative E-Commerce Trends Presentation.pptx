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rchivo Black" charset="1" panose="020B0A03020202020B04"/>
      <p:regular r:id="rId29"/>
    </p:embeddedFont>
    <p:embeddedFont>
      <p:font typeface="Garet Italics" charset="1" panose="00000000000000000000"/>
      <p:regular r:id="rId30"/>
    </p:embeddedFont>
    <p:embeddedFont>
      <p:font typeface="Canva Sans Bold" charset="1" panose="020B0803030501040103"/>
      <p:regular r:id="rId31"/>
    </p:embeddedFont>
    <p:embeddedFont>
      <p:font typeface="Canva Sans" charset="1" panose="020B0503030501040103"/>
      <p:regular r:id="rId32"/>
    </p:embeddedFont>
    <p:embeddedFont>
      <p:font typeface="Garet" charset="1" panose="00000000000000000000"/>
      <p:regular r:id="rId33"/>
    </p:embeddedFont>
    <p:embeddedFont>
      <p:font typeface="Garet Bold" charset="1" panose="00000000000000000000"/>
      <p:regular r:id="rId34"/>
    </p:embeddedFont>
    <p:embeddedFont>
      <p:font typeface="Canva Sans Italics" charset="1" panose="020B0503030501040103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11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11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61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14" Target="../media/image11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0.png" Type="http://schemas.openxmlformats.org/officeDocument/2006/relationships/image"/><Relationship Id="rId5" Target="../media/image71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43854" y="3436538"/>
            <a:ext cx="7906424" cy="7906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488099" y="2150134"/>
            <a:ext cx="5208967" cy="6255310"/>
          </a:xfrm>
          <a:custGeom>
            <a:avLst/>
            <a:gdLst/>
            <a:ahLst/>
            <a:cxnLst/>
            <a:rect r="r" b="b" t="t" l="l"/>
            <a:pathLst>
              <a:path h="6255310" w="5208967">
                <a:moveTo>
                  <a:pt x="0" y="0"/>
                </a:moveTo>
                <a:lnTo>
                  <a:pt x="5208968" y="0"/>
                </a:lnTo>
                <a:lnTo>
                  <a:pt x="5208968" y="6255310"/>
                </a:lnTo>
                <a:lnTo>
                  <a:pt x="0" y="625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362279" y="-772911"/>
            <a:ext cx="7906424" cy="79064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7887" y="1719508"/>
            <a:ext cx="12851647" cy="5973136"/>
            <a:chOff x="0" y="0"/>
            <a:chExt cx="2622560" cy="12189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4" y="0"/>
              <a:ext cx="2615191" cy="1218903"/>
            </a:xfrm>
            <a:custGeom>
              <a:avLst/>
              <a:gdLst/>
              <a:ahLst/>
              <a:cxnLst/>
              <a:rect r="r" b="b" t="t" l="l"/>
              <a:pathLst>
                <a:path h="1218903" w="2615191">
                  <a:moveTo>
                    <a:pt x="223612" y="1218903"/>
                  </a:moveTo>
                  <a:lnTo>
                    <a:pt x="2391579" y="1218903"/>
                  </a:lnTo>
                  <a:cubicBezTo>
                    <a:pt x="2405484" y="1218903"/>
                    <a:pt x="2417352" y="1208850"/>
                    <a:pt x="2419638" y="1195134"/>
                  </a:cubicBezTo>
                  <a:lnTo>
                    <a:pt x="2614913" y="23768"/>
                  </a:lnTo>
                  <a:cubicBezTo>
                    <a:pt x="2615900" y="17850"/>
                    <a:pt x="2614233" y="11797"/>
                    <a:pt x="2610354" y="7218"/>
                  </a:cubicBezTo>
                  <a:cubicBezTo>
                    <a:pt x="2606476" y="2640"/>
                    <a:pt x="2600780" y="0"/>
                    <a:pt x="2594779" y="0"/>
                  </a:cubicBezTo>
                  <a:lnTo>
                    <a:pt x="20412" y="0"/>
                  </a:lnTo>
                  <a:cubicBezTo>
                    <a:pt x="14412" y="0"/>
                    <a:pt x="8716" y="2640"/>
                    <a:pt x="4837" y="7218"/>
                  </a:cubicBezTo>
                  <a:cubicBezTo>
                    <a:pt x="959" y="11797"/>
                    <a:pt x="-708" y="17850"/>
                    <a:pt x="278" y="23768"/>
                  </a:cubicBezTo>
                  <a:lnTo>
                    <a:pt x="195554" y="1195134"/>
                  </a:lnTo>
                  <a:cubicBezTo>
                    <a:pt x="197840" y="1208850"/>
                    <a:pt x="209707" y="1218903"/>
                    <a:pt x="223612" y="1218903"/>
                  </a:cubicBezTo>
                  <a:close/>
                </a:path>
              </a:pathLst>
            </a:custGeom>
            <a:solidFill>
              <a:srgbClr val="E1EB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38100"/>
              <a:ext cx="2368560" cy="125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46138" y="7310562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856527" y="1384118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6" y="0"/>
                </a:lnTo>
                <a:lnTo>
                  <a:pt x="766016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02403" y="890452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1" y="0"/>
                </a:lnTo>
                <a:lnTo>
                  <a:pt x="1682451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15452" y="337892"/>
            <a:ext cx="1381615" cy="1381615"/>
          </a:xfrm>
          <a:custGeom>
            <a:avLst/>
            <a:gdLst/>
            <a:ahLst/>
            <a:cxnLst/>
            <a:rect r="r" b="b" t="t" l="l"/>
            <a:pathLst>
              <a:path h="1381615" w="1381615">
                <a:moveTo>
                  <a:pt x="0" y="0"/>
                </a:moveTo>
                <a:lnTo>
                  <a:pt x="1381615" y="0"/>
                </a:lnTo>
                <a:lnTo>
                  <a:pt x="1381615" y="1381616"/>
                </a:lnTo>
                <a:lnTo>
                  <a:pt x="0" y="13816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80048" y="2777401"/>
            <a:ext cx="10785484" cy="14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E-TİCARET SİSTEMLERİNDE SATIŞ TAHMİNLEME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3131" y="4748865"/>
            <a:ext cx="9538383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Ürün Davranış Analizi ve Hibrit Makine Öğrenmesi Yaklaşımı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30203" y="6690049"/>
            <a:ext cx="4552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7F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DANIŞMAN: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Prof. Serpil TÜRKYILMAZ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0203" y="5968065"/>
            <a:ext cx="382788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7F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HAZIRLAYAN:</a:t>
            </a: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Edanur DEMİREL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516403"/>
            <a:ext cx="59102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89937" y="1953563"/>
            <a:ext cx="6379874" cy="63798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54594" y="3846222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6"/>
                </a:lnTo>
                <a:lnTo>
                  <a:pt x="0" y="259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87202" y="1321078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58771" y="7318344"/>
            <a:ext cx="1015093" cy="10150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98748" y="-3953212"/>
            <a:ext cx="7906424" cy="79064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95668" y="235147"/>
            <a:ext cx="13436807" cy="9755097"/>
            <a:chOff x="0" y="0"/>
            <a:chExt cx="599524" cy="4352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9524" cy="435253"/>
            </a:xfrm>
            <a:custGeom>
              <a:avLst/>
              <a:gdLst/>
              <a:ahLst/>
              <a:cxnLst/>
              <a:rect r="r" b="b" t="t" l="l"/>
              <a:pathLst>
                <a:path h="435253" w="599524">
                  <a:moveTo>
                    <a:pt x="57617" y="0"/>
                  </a:moveTo>
                  <a:lnTo>
                    <a:pt x="541906" y="0"/>
                  </a:lnTo>
                  <a:cubicBezTo>
                    <a:pt x="573728" y="0"/>
                    <a:pt x="599524" y="25796"/>
                    <a:pt x="599524" y="57617"/>
                  </a:cubicBezTo>
                  <a:lnTo>
                    <a:pt x="599524" y="377636"/>
                  </a:lnTo>
                  <a:cubicBezTo>
                    <a:pt x="599524" y="409457"/>
                    <a:pt x="573728" y="435253"/>
                    <a:pt x="541906" y="435253"/>
                  </a:cubicBezTo>
                  <a:lnTo>
                    <a:pt x="57617" y="435253"/>
                  </a:lnTo>
                  <a:cubicBezTo>
                    <a:pt x="42336" y="435253"/>
                    <a:pt x="27681" y="429183"/>
                    <a:pt x="16876" y="418377"/>
                  </a:cubicBezTo>
                  <a:cubicBezTo>
                    <a:pt x="6070" y="407572"/>
                    <a:pt x="0" y="392917"/>
                    <a:pt x="0" y="377636"/>
                  </a:cubicBezTo>
                  <a:lnTo>
                    <a:pt x="0" y="57617"/>
                  </a:lnTo>
                  <a:cubicBezTo>
                    <a:pt x="0" y="25796"/>
                    <a:pt x="25796" y="0"/>
                    <a:pt x="5761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99524" cy="473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883316" y="524781"/>
            <a:ext cx="11835316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İÇİNDEKİLER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734018" y="1739537"/>
            <a:ext cx="782843" cy="78284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735857" y="5772922"/>
            <a:ext cx="782843" cy="78284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27201" y="2673884"/>
            <a:ext cx="782843" cy="78284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735857" y="6784365"/>
            <a:ext cx="782843" cy="78284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734018" y="3732952"/>
            <a:ext cx="782843" cy="78284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01197" y="2762076"/>
            <a:ext cx="782843" cy="78284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714104" y="4763446"/>
            <a:ext cx="782843" cy="78284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101197" y="6815582"/>
            <a:ext cx="782843" cy="782843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776754" y="1864036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785409" y="5978056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783571" y="2838276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776754" y="6948758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785409" y="3897345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776754" y="4957638"/>
            <a:ext cx="683738" cy="53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676945" y="1905328"/>
            <a:ext cx="291535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Problemin Tanımı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676945" y="2853962"/>
            <a:ext cx="291535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Veri Seti Tanıtımı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45966" y="5865772"/>
            <a:ext cx="501452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Hibrit Mimari: Stacking Ensemble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76945" y="7815755"/>
            <a:ext cx="438631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Özellik Mühendisliği (Feature Engineering)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045966" y="6894472"/>
            <a:ext cx="366411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Bulgular ve Model Karşılaştırmaları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045966" y="8037472"/>
            <a:ext cx="378956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6262F"/>
                </a:solidFill>
                <a:latin typeface="Garet"/>
                <a:ea typeface="Garet"/>
                <a:cs typeface="Garet"/>
                <a:sym typeface="Garet"/>
              </a:rPr>
              <a:t>Sonuç ve Gelecek Vizyonu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4676945" y="3834709"/>
            <a:ext cx="34346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 Ön İşleme Süreci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676945" y="4877746"/>
            <a:ext cx="417232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Keşifsel Veri Analizi (EDA)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676945" y="5909621"/>
            <a:ext cx="192590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ABC Analizi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676945" y="6944486"/>
            <a:ext cx="122613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Volalite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0101197" y="7850447"/>
            <a:ext cx="782843" cy="782843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101197" y="5825878"/>
            <a:ext cx="782843" cy="782843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101197" y="4795385"/>
            <a:ext cx="782843" cy="782843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101197" y="3754654"/>
            <a:ext cx="782843" cy="782843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0149201" y="5990287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12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149201" y="8014856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14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150750" y="6970672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13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045966" y="1915184"/>
            <a:ext cx="47423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 Dönüşümü &amp; Log Scaling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045966" y="2834427"/>
            <a:ext cx="428181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SARIMAX — Baseline Model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045966" y="3788910"/>
            <a:ext cx="257581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XGBoost Modeli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11416" y="4857248"/>
            <a:ext cx="397296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Bi-LSTM Derin Öğrenme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3735857" y="7870394"/>
            <a:ext cx="782843" cy="782843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50095" y="1731583"/>
            <a:ext cx="782843" cy="782843"/>
            <a:chOff x="0" y="0"/>
            <a:chExt cx="812800" cy="812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-487015" y="8653237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4" id="84"/>
          <p:cNvSpPr txBox="true"/>
          <p:nvPr/>
        </p:nvSpPr>
        <p:spPr>
          <a:xfrm rot="0">
            <a:off x="3785409" y="7997388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7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101197" y="1923105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8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150750" y="2881529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9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150750" y="3906870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10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150750" y="4952753"/>
            <a:ext cx="68373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ECF284"/>
                </a:solidFill>
                <a:latin typeface="Archivo Black"/>
                <a:ea typeface="Archivo Black"/>
                <a:cs typeface="Archivo Black"/>
                <a:sym typeface="Archivo Black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2510" y="501162"/>
            <a:ext cx="16416790" cy="7950315"/>
            <a:chOff x="0" y="0"/>
            <a:chExt cx="732485" cy="354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485" cy="354727"/>
            </a:xfrm>
            <a:custGeom>
              <a:avLst/>
              <a:gdLst/>
              <a:ahLst/>
              <a:cxnLst/>
              <a:rect r="r" b="b" t="t" l="l"/>
              <a:pathLst>
                <a:path h="354727" w="732485">
                  <a:moveTo>
                    <a:pt x="47159" y="0"/>
                  </a:moveTo>
                  <a:lnTo>
                    <a:pt x="685326" y="0"/>
                  </a:lnTo>
                  <a:cubicBezTo>
                    <a:pt x="697833" y="0"/>
                    <a:pt x="709828" y="4968"/>
                    <a:pt x="718672" y="13812"/>
                  </a:cubicBezTo>
                  <a:cubicBezTo>
                    <a:pt x="727516" y="22656"/>
                    <a:pt x="732485" y="34651"/>
                    <a:pt x="732485" y="47159"/>
                  </a:cubicBezTo>
                  <a:lnTo>
                    <a:pt x="732485" y="307569"/>
                  </a:lnTo>
                  <a:cubicBezTo>
                    <a:pt x="732485" y="333614"/>
                    <a:pt x="711371" y="354727"/>
                    <a:pt x="685326" y="354727"/>
                  </a:cubicBezTo>
                  <a:lnTo>
                    <a:pt x="47159" y="354727"/>
                  </a:lnTo>
                  <a:cubicBezTo>
                    <a:pt x="21114" y="354727"/>
                    <a:pt x="0" y="333614"/>
                    <a:pt x="0" y="307569"/>
                  </a:cubicBezTo>
                  <a:lnTo>
                    <a:pt x="0" y="47159"/>
                  </a:lnTo>
                  <a:cubicBezTo>
                    <a:pt x="0" y="21114"/>
                    <a:pt x="21114" y="0"/>
                    <a:pt x="47159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32485" cy="392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29635" y="1738550"/>
            <a:ext cx="4342883" cy="6220299"/>
            <a:chOff x="0" y="0"/>
            <a:chExt cx="1143805" cy="1638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805" cy="1638268"/>
            </a:xfrm>
            <a:custGeom>
              <a:avLst/>
              <a:gdLst/>
              <a:ahLst/>
              <a:cxnLst/>
              <a:rect r="r" b="b" t="t" l="l"/>
              <a:pathLst>
                <a:path h="1638268" w="1143805">
                  <a:moveTo>
                    <a:pt x="90916" y="0"/>
                  </a:moveTo>
                  <a:lnTo>
                    <a:pt x="1052888" y="0"/>
                  </a:lnTo>
                  <a:cubicBezTo>
                    <a:pt x="1077001" y="0"/>
                    <a:pt x="1100126" y="9579"/>
                    <a:pt x="1117176" y="26629"/>
                  </a:cubicBezTo>
                  <a:cubicBezTo>
                    <a:pt x="1134226" y="43679"/>
                    <a:pt x="1143805" y="66804"/>
                    <a:pt x="1143805" y="90916"/>
                  </a:cubicBezTo>
                  <a:lnTo>
                    <a:pt x="1143805" y="1547352"/>
                  </a:lnTo>
                  <a:cubicBezTo>
                    <a:pt x="1143805" y="1571464"/>
                    <a:pt x="1134226" y="1594589"/>
                    <a:pt x="1117176" y="1611639"/>
                  </a:cubicBezTo>
                  <a:cubicBezTo>
                    <a:pt x="1100126" y="1628689"/>
                    <a:pt x="1077001" y="1638268"/>
                    <a:pt x="1052888" y="1638268"/>
                  </a:cubicBezTo>
                  <a:lnTo>
                    <a:pt x="90916" y="1638268"/>
                  </a:lnTo>
                  <a:cubicBezTo>
                    <a:pt x="66804" y="1638268"/>
                    <a:pt x="43679" y="1628689"/>
                    <a:pt x="26629" y="1611639"/>
                  </a:cubicBezTo>
                  <a:cubicBezTo>
                    <a:pt x="9579" y="1594589"/>
                    <a:pt x="0" y="1571464"/>
                    <a:pt x="0" y="1547352"/>
                  </a:cubicBezTo>
                  <a:lnTo>
                    <a:pt x="0" y="90916"/>
                  </a:lnTo>
                  <a:cubicBezTo>
                    <a:pt x="0" y="66804"/>
                    <a:pt x="9579" y="43679"/>
                    <a:pt x="26629" y="26629"/>
                  </a:cubicBezTo>
                  <a:cubicBezTo>
                    <a:pt x="43679" y="9579"/>
                    <a:pt x="66804" y="0"/>
                    <a:pt x="90916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43805" cy="167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99652" y="1738550"/>
            <a:ext cx="4342883" cy="6220299"/>
            <a:chOff x="0" y="0"/>
            <a:chExt cx="1143805" cy="16382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805" cy="1638268"/>
            </a:xfrm>
            <a:custGeom>
              <a:avLst/>
              <a:gdLst/>
              <a:ahLst/>
              <a:cxnLst/>
              <a:rect r="r" b="b" t="t" l="l"/>
              <a:pathLst>
                <a:path h="1638268" w="1143805">
                  <a:moveTo>
                    <a:pt x="90916" y="0"/>
                  </a:moveTo>
                  <a:lnTo>
                    <a:pt x="1052888" y="0"/>
                  </a:lnTo>
                  <a:cubicBezTo>
                    <a:pt x="1077001" y="0"/>
                    <a:pt x="1100126" y="9579"/>
                    <a:pt x="1117176" y="26629"/>
                  </a:cubicBezTo>
                  <a:cubicBezTo>
                    <a:pt x="1134226" y="43679"/>
                    <a:pt x="1143805" y="66804"/>
                    <a:pt x="1143805" y="90916"/>
                  </a:cubicBezTo>
                  <a:lnTo>
                    <a:pt x="1143805" y="1547352"/>
                  </a:lnTo>
                  <a:cubicBezTo>
                    <a:pt x="1143805" y="1571464"/>
                    <a:pt x="1134226" y="1594589"/>
                    <a:pt x="1117176" y="1611639"/>
                  </a:cubicBezTo>
                  <a:cubicBezTo>
                    <a:pt x="1100126" y="1628689"/>
                    <a:pt x="1077001" y="1638268"/>
                    <a:pt x="1052888" y="1638268"/>
                  </a:cubicBezTo>
                  <a:lnTo>
                    <a:pt x="90916" y="1638268"/>
                  </a:lnTo>
                  <a:cubicBezTo>
                    <a:pt x="66804" y="1638268"/>
                    <a:pt x="43679" y="1628689"/>
                    <a:pt x="26629" y="1611639"/>
                  </a:cubicBezTo>
                  <a:cubicBezTo>
                    <a:pt x="9579" y="1594589"/>
                    <a:pt x="0" y="1571464"/>
                    <a:pt x="0" y="1547352"/>
                  </a:cubicBezTo>
                  <a:lnTo>
                    <a:pt x="0" y="90916"/>
                  </a:lnTo>
                  <a:cubicBezTo>
                    <a:pt x="0" y="66804"/>
                    <a:pt x="9579" y="43679"/>
                    <a:pt x="26629" y="26629"/>
                  </a:cubicBezTo>
                  <a:cubicBezTo>
                    <a:pt x="43679" y="9579"/>
                    <a:pt x="66804" y="0"/>
                    <a:pt x="90916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43805" cy="167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66460" y="1738550"/>
            <a:ext cx="4342883" cy="6220299"/>
            <a:chOff x="0" y="0"/>
            <a:chExt cx="1143805" cy="1638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805" cy="1638268"/>
            </a:xfrm>
            <a:custGeom>
              <a:avLst/>
              <a:gdLst/>
              <a:ahLst/>
              <a:cxnLst/>
              <a:rect r="r" b="b" t="t" l="l"/>
              <a:pathLst>
                <a:path h="1638268" w="1143805">
                  <a:moveTo>
                    <a:pt x="90916" y="0"/>
                  </a:moveTo>
                  <a:lnTo>
                    <a:pt x="1052888" y="0"/>
                  </a:lnTo>
                  <a:cubicBezTo>
                    <a:pt x="1077001" y="0"/>
                    <a:pt x="1100126" y="9579"/>
                    <a:pt x="1117176" y="26629"/>
                  </a:cubicBezTo>
                  <a:cubicBezTo>
                    <a:pt x="1134226" y="43679"/>
                    <a:pt x="1143805" y="66804"/>
                    <a:pt x="1143805" y="90916"/>
                  </a:cubicBezTo>
                  <a:lnTo>
                    <a:pt x="1143805" y="1547352"/>
                  </a:lnTo>
                  <a:cubicBezTo>
                    <a:pt x="1143805" y="1571464"/>
                    <a:pt x="1134226" y="1594589"/>
                    <a:pt x="1117176" y="1611639"/>
                  </a:cubicBezTo>
                  <a:cubicBezTo>
                    <a:pt x="1100126" y="1628689"/>
                    <a:pt x="1077001" y="1638268"/>
                    <a:pt x="1052888" y="1638268"/>
                  </a:cubicBezTo>
                  <a:lnTo>
                    <a:pt x="90916" y="1638268"/>
                  </a:lnTo>
                  <a:cubicBezTo>
                    <a:pt x="66804" y="1638268"/>
                    <a:pt x="43679" y="1628689"/>
                    <a:pt x="26629" y="1611639"/>
                  </a:cubicBezTo>
                  <a:cubicBezTo>
                    <a:pt x="9579" y="1594589"/>
                    <a:pt x="0" y="1571464"/>
                    <a:pt x="0" y="1547352"/>
                  </a:cubicBezTo>
                  <a:lnTo>
                    <a:pt x="0" y="90916"/>
                  </a:lnTo>
                  <a:cubicBezTo>
                    <a:pt x="0" y="66804"/>
                    <a:pt x="9579" y="43679"/>
                    <a:pt x="26629" y="26629"/>
                  </a:cubicBezTo>
                  <a:cubicBezTo>
                    <a:pt x="43679" y="9579"/>
                    <a:pt x="66804" y="0"/>
                    <a:pt x="90916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43805" cy="1676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2510" y="2235056"/>
            <a:ext cx="789756" cy="78975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94040" y="836595"/>
            <a:ext cx="3978477" cy="72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26615" y="836595"/>
            <a:ext cx="2287251" cy="72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AMAÇ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75707" y="836595"/>
            <a:ext cx="4133636" cy="72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YAKLAŞIM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1570" y="2409666"/>
            <a:ext cx="4030947" cy="496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  <a:spcBef>
                <a:spcPct val="0"/>
              </a:spcBef>
            </a:pPr>
            <a:r>
              <a:rPr lang="en-US" b="true" sz="201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Kaotik Veri: </a:t>
            </a:r>
            <a:r>
              <a:rPr lang="en-US" sz="20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E-ticaretteki ani kampanya ve indirim dönemlerinin yarattığı tahmin edilemez satış sıçramaları.</a:t>
            </a:r>
          </a:p>
          <a:p>
            <a:pPr algn="l">
              <a:lnSpc>
                <a:spcPts val="2821"/>
              </a:lnSpc>
              <a:spcBef>
                <a:spcPct val="0"/>
              </a:spcBef>
            </a:pPr>
          </a:p>
          <a:p>
            <a:pPr algn="l">
              <a:lnSpc>
                <a:spcPts val="2821"/>
              </a:lnSpc>
              <a:spcBef>
                <a:spcPct val="0"/>
              </a:spcBef>
            </a:pPr>
            <a:r>
              <a:rPr lang="en-US" b="true" sz="201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Hatalı Stok:</a:t>
            </a:r>
            <a:r>
              <a:rPr lang="en-US" sz="20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Yanlış tahminler sonucu oluşan yüksek depolama maliyetleri veya "yok satma" (stock-out) riski.</a:t>
            </a:r>
          </a:p>
          <a:p>
            <a:pPr algn="l">
              <a:lnSpc>
                <a:spcPts val="2821"/>
              </a:lnSpc>
              <a:spcBef>
                <a:spcPct val="0"/>
              </a:spcBef>
            </a:pPr>
          </a:p>
          <a:p>
            <a:pPr algn="l">
              <a:lnSpc>
                <a:spcPts val="2821"/>
              </a:lnSpc>
              <a:spcBef>
                <a:spcPct val="0"/>
              </a:spcBef>
            </a:pPr>
            <a:r>
              <a:rPr lang="en-US" b="true" sz="201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Karmaşıklık: </a:t>
            </a:r>
            <a:r>
              <a:rPr lang="en-US" sz="20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Standart yöntemlerin (ARIMA gibi) doğrusal olmayan verileri yakalayamaması.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42510" y="3939040"/>
            <a:ext cx="789756" cy="78975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42510" y="5643024"/>
            <a:ext cx="789756" cy="78975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786309" y="2419191"/>
            <a:ext cx="4256226" cy="4666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8"/>
              </a:lnSpc>
              <a:spcBef>
                <a:spcPct val="0"/>
              </a:spcBef>
            </a:pPr>
            <a:r>
              <a:rPr lang="en-US" b="true" sz="206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Yüksek Hassasiyet:</a:t>
            </a:r>
            <a:r>
              <a:rPr lang="en-US" sz="206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Satış tepe noktalarını (peak) en az hatayla öngören bir karar destek sistemi kurmak.</a:t>
            </a:r>
          </a:p>
          <a:p>
            <a:pPr algn="l">
              <a:lnSpc>
                <a:spcPts val="2888"/>
              </a:lnSpc>
              <a:spcBef>
                <a:spcPct val="0"/>
              </a:spcBef>
            </a:pPr>
          </a:p>
          <a:p>
            <a:pPr algn="l">
              <a:lnSpc>
                <a:spcPts val="2888"/>
              </a:lnSpc>
              <a:spcBef>
                <a:spcPct val="0"/>
              </a:spcBef>
            </a:pPr>
            <a:r>
              <a:rPr lang="en-US" b="true" sz="206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Maliyet Optimizasyonu:</a:t>
            </a:r>
            <a:r>
              <a:rPr lang="en-US" sz="206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Doğru tahminle stok verimliliğini artırmak.</a:t>
            </a:r>
          </a:p>
          <a:p>
            <a:pPr algn="l">
              <a:lnSpc>
                <a:spcPts val="2888"/>
              </a:lnSpc>
              <a:spcBef>
                <a:spcPct val="0"/>
              </a:spcBef>
            </a:pPr>
          </a:p>
          <a:p>
            <a:pPr algn="l">
              <a:lnSpc>
                <a:spcPts val="2888"/>
              </a:lnSpc>
              <a:spcBef>
                <a:spcPct val="0"/>
              </a:spcBef>
            </a:pPr>
            <a:r>
              <a:rPr lang="en-US" b="true" sz="206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Akıllı Otomasyon: </a:t>
            </a:r>
            <a:r>
              <a:rPr lang="en-US" sz="206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Manuel müdahale gerektirmeyen, veriden öğrenen bir hibrit mimari geliştirmek.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996552" y="2235056"/>
            <a:ext cx="789756" cy="789756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996552" y="3932644"/>
            <a:ext cx="789756" cy="78975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909896" y="5643024"/>
            <a:ext cx="789756" cy="789756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85951" y="2235056"/>
            <a:ext cx="789756" cy="789756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85951" y="5643024"/>
            <a:ext cx="789756" cy="789756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385951" y="3939040"/>
            <a:ext cx="789756" cy="789756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175707" y="2498122"/>
            <a:ext cx="4133636" cy="480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Bütünsel Analiz:</a:t>
            </a:r>
            <a:r>
              <a:rPr lang="en-US" sz="21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ABC Analizi ile kritik ürünlere odaklanma.</a:t>
            </a:r>
          </a:p>
          <a:p>
            <a:pPr algn="l">
              <a:lnSpc>
                <a:spcPts val="2956"/>
              </a:lnSpc>
            </a:pPr>
          </a:p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b="true" sz="21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Hibrit Sinerji</a:t>
            </a:r>
            <a:r>
              <a:rPr lang="en-US" sz="21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İst</a:t>
            </a:r>
            <a:r>
              <a:rPr lang="en-US" sz="21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atistiksel modellerin kararlılığı ile derin öğrenmenin (LSTM) esnekliğini birleştirme.</a:t>
            </a:r>
          </a:p>
          <a:p>
            <a:pPr algn="l">
              <a:lnSpc>
                <a:spcPts val="2956"/>
              </a:lnSpc>
              <a:spcBef>
                <a:spcPct val="0"/>
              </a:spcBef>
            </a:pPr>
          </a:p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b="true" sz="21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Gücü:</a:t>
            </a:r>
            <a:r>
              <a:rPr lang="en-US" sz="21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Birden fazla algoritmayı "Stacking" yöntemiyle tek bir modelde toplama.</a:t>
            </a:r>
          </a:p>
          <a:p>
            <a:pPr algn="l">
              <a:lnSpc>
                <a:spcPts val="2956"/>
              </a:lnSpc>
              <a:spcBef>
                <a:spcPct val="0"/>
              </a:spcBef>
            </a:pP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7259300" y="328612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74505" y="-3298477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1379" y="-3298477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4501" y="423582"/>
            <a:ext cx="17146034" cy="8819202"/>
            <a:chOff x="0" y="0"/>
            <a:chExt cx="765022" cy="393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5022" cy="393495"/>
            </a:xfrm>
            <a:custGeom>
              <a:avLst/>
              <a:gdLst/>
              <a:ahLst/>
              <a:cxnLst/>
              <a:rect r="r" b="b" t="t" l="l"/>
              <a:pathLst>
                <a:path h="393495" w="765022">
                  <a:moveTo>
                    <a:pt x="45153" y="0"/>
                  </a:moveTo>
                  <a:lnTo>
                    <a:pt x="719869" y="0"/>
                  </a:lnTo>
                  <a:cubicBezTo>
                    <a:pt x="731845" y="0"/>
                    <a:pt x="743329" y="4757"/>
                    <a:pt x="751797" y="13225"/>
                  </a:cubicBezTo>
                  <a:cubicBezTo>
                    <a:pt x="760265" y="21693"/>
                    <a:pt x="765022" y="33178"/>
                    <a:pt x="765022" y="45153"/>
                  </a:cubicBezTo>
                  <a:lnTo>
                    <a:pt x="765022" y="348342"/>
                  </a:lnTo>
                  <a:cubicBezTo>
                    <a:pt x="765022" y="373280"/>
                    <a:pt x="744806" y="393495"/>
                    <a:pt x="719869" y="393495"/>
                  </a:cubicBezTo>
                  <a:lnTo>
                    <a:pt x="45153" y="393495"/>
                  </a:lnTo>
                  <a:cubicBezTo>
                    <a:pt x="20216" y="393495"/>
                    <a:pt x="0" y="373280"/>
                    <a:pt x="0" y="348342"/>
                  </a:cubicBezTo>
                  <a:lnTo>
                    <a:pt x="0" y="45153"/>
                  </a:lnTo>
                  <a:cubicBezTo>
                    <a:pt x="0" y="20216"/>
                    <a:pt x="20216" y="0"/>
                    <a:pt x="45153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5022" cy="43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2990" y="182052"/>
            <a:ext cx="1285474" cy="1266878"/>
          </a:xfrm>
          <a:custGeom>
            <a:avLst/>
            <a:gdLst/>
            <a:ahLst/>
            <a:cxnLst/>
            <a:rect r="r" b="b" t="t" l="l"/>
            <a:pathLst>
              <a:path h="1266878" w="1285474">
                <a:moveTo>
                  <a:pt x="0" y="0"/>
                </a:moveTo>
                <a:lnTo>
                  <a:pt x="1285474" y="0"/>
                </a:lnTo>
                <a:lnTo>
                  <a:pt x="1285474" y="1266878"/>
                </a:lnTo>
                <a:lnTo>
                  <a:pt x="0" y="126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-9344322">
            <a:off x="16202962" y="33146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506714" y="1707368"/>
            <a:ext cx="5218286" cy="1761922"/>
            <a:chOff x="0" y="0"/>
            <a:chExt cx="232830" cy="786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2830" cy="78613"/>
            </a:xfrm>
            <a:custGeom>
              <a:avLst/>
              <a:gdLst/>
              <a:ahLst/>
              <a:cxnLst/>
              <a:rect r="r" b="b" t="t" l="l"/>
              <a:pathLst>
                <a:path h="78613" w="232830">
                  <a:moveTo>
                    <a:pt x="39307" y="0"/>
                  </a:moveTo>
                  <a:lnTo>
                    <a:pt x="193523" y="0"/>
                  </a:lnTo>
                  <a:cubicBezTo>
                    <a:pt x="215231" y="0"/>
                    <a:pt x="232830" y="17598"/>
                    <a:pt x="232830" y="39307"/>
                  </a:cubicBezTo>
                  <a:lnTo>
                    <a:pt x="232830" y="39307"/>
                  </a:lnTo>
                  <a:cubicBezTo>
                    <a:pt x="232830" y="61015"/>
                    <a:pt x="215231" y="78613"/>
                    <a:pt x="193523" y="78613"/>
                  </a:cubicBezTo>
                  <a:lnTo>
                    <a:pt x="39307" y="78613"/>
                  </a:lnTo>
                  <a:cubicBezTo>
                    <a:pt x="17598" y="78613"/>
                    <a:pt x="0" y="61015"/>
                    <a:pt x="0" y="39307"/>
                  </a:cubicBezTo>
                  <a:lnTo>
                    <a:pt x="0" y="39307"/>
                  </a:lnTo>
                  <a:cubicBezTo>
                    <a:pt x="0" y="17598"/>
                    <a:pt x="17598" y="0"/>
                    <a:pt x="39307" y="0"/>
                  </a:cubicBezTo>
                  <a:close/>
                </a:path>
              </a:pathLst>
            </a:custGeom>
            <a:solidFill>
              <a:srgbClr val="0C698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2830" cy="11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725000" y="1707368"/>
            <a:ext cx="4097149" cy="1761922"/>
            <a:chOff x="0" y="0"/>
            <a:chExt cx="182807" cy="786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807" cy="78613"/>
            </a:xfrm>
            <a:custGeom>
              <a:avLst/>
              <a:gdLst/>
              <a:ahLst/>
              <a:cxnLst/>
              <a:rect r="r" b="b" t="t" l="l"/>
              <a:pathLst>
                <a:path h="78613" w="182807">
                  <a:moveTo>
                    <a:pt x="39307" y="0"/>
                  </a:moveTo>
                  <a:lnTo>
                    <a:pt x="143500" y="0"/>
                  </a:lnTo>
                  <a:cubicBezTo>
                    <a:pt x="165208" y="0"/>
                    <a:pt x="182807" y="17598"/>
                    <a:pt x="182807" y="39307"/>
                  </a:cubicBezTo>
                  <a:lnTo>
                    <a:pt x="182807" y="39307"/>
                  </a:lnTo>
                  <a:cubicBezTo>
                    <a:pt x="182807" y="61015"/>
                    <a:pt x="165208" y="78613"/>
                    <a:pt x="143500" y="78613"/>
                  </a:cubicBezTo>
                  <a:lnTo>
                    <a:pt x="39307" y="78613"/>
                  </a:lnTo>
                  <a:cubicBezTo>
                    <a:pt x="17598" y="78613"/>
                    <a:pt x="0" y="61015"/>
                    <a:pt x="0" y="39307"/>
                  </a:cubicBezTo>
                  <a:lnTo>
                    <a:pt x="0" y="39307"/>
                  </a:lnTo>
                  <a:cubicBezTo>
                    <a:pt x="0" y="17598"/>
                    <a:pt x="17598" y="0"/>
                    <a:pt x="39307" y="0"/>
                  </a:cubicBezTo>
                  <a:close/>
                </a:path>
              </a:pathLst>
            </a:custGeom>
            <a:solidFill>
              <a:srgbClr val="0C698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2807" cy="11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39936" y="1707368"/>
            <a:ext cx="4097149" cy="1761922"/>
            <a:chOff x="0" y="0"/>
            <a:chExt cx="182807" cy="786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07" cy="78613"/>
            </a:xfrm>
            <a:custGeom>
              <a:avLst/>
              <a:gdLst/>
              <a:ahLst/>
              <a:cxnLst/>
              <a:rect r="r" b="b" t="t" l="l"/>
              <a:pathLst>
                <a:path h="78613" w="182807">
                  <a:moveTo>
                    <a:pt x="39307" y="0"/>
                  </a:moveTo>
                  <a:lnTo>
                    <a:pt x="143500" y="0"/>
                  </a:lnTo>
                  <a:cubicBezTo>
                    <a:pt x="165208" y="0"/>
                    <a:pt x="182807" y="17598"/>
                    <a:pt x="182807" y="39307"/>
                  </a:cubicBezTo>
                  <a:lnTo>
                    <a:pt x="182807" y="39307"/>
                  </a:lnTo>
                  <a:cubicBezTo>
                    <a:pt x="182807" y="61015"/>
                    <a:pt x="165208" y="78613"/>
                    <a:pt x="143500" y="78613"/>
                  </a:cubicBezTo>
                  <a:lnTo>
                    <a:pt x="39307" y="78613"/>
                  </a:lnTo>
                  <a:cubicBezTo>
                    <a:pt x="17598" y="78613"/>
                    <a:pt x="0" y="61015"/>
                    <a:pt x="0" y="39307"/>
                  </a:cubicBezTo>
                  <a:lnTo>
                    <a:pt x="0" y="39307"/>
                  </a:lnTo>
                  <a:cubicBezTo>
                    <a:pt x="0" y="17598"/>
                    <a:pt x="17598" y="0"/>
                    <a:pt x="39307" y="0"/>
                  </a:cubicBezTo>
                  <a:close/>
                </a:path>
              </a:pathLst>
            </a:custGeom>
            <a:solidFill>
              <a:srgbClr val="0C698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2807" cy="11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937084" y="1707368"/>
            <a:ext cx="3733451" cy="1761922"/>
            <a:chOff x="0" y="0"/>
            <a:chExt cx="166579" cy="786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6579" cy="78613"/>
            </a:xfrm>
            <a:custGeom>
              <a:avLst/>
              <a:gdLst/>
              <a:ahLst/>
              <a:cxnLst/>
              <a:rect r="r" b="b" t="t" l="l"/>
              <a:pathLst>
                <a:path h="78613" w="166579">
                  <a:moveTo>
                    <a:pt x="39307" y="0"/>
                  </a:moveTo>
                  <a:lnTo>
                    <a:pt x="127272" y="0"/>
                  </a:lnTo>
                  <a:cubicBezTo>
                    <a:pt x="148981" y="0"/>
                    <a:pt x="166579" y="17598"/>
                    <a:pt x="166579" y="39307"/>
                  </a:cubicBezTo>
                  <a:lnTo>
                    <a:pt x="166579" y="39307"/>
                  </a:lnTo>
                  <a:cubicBezTo>
                    <a:pt x="166579" y="61015"/>
                    <a:pt x="148981" y="78613"/>
                    <a:pt x="127272" y="78613"/>
                  </a:cubicBezTo>
                  <a:lnTo>
                    <a:pt x="39307" y="78613"/>
                  </a:lnTo>
                  <a:cubicBezTo>
                    <a:pt x="17598" y="78613"/>
                    <a:pt x="0" y="61015"/>
                    <a:pt x="0" y="39307"/>
                  </a:cubicBezTo>
                  <a:lnTo>
                    <a:pt x="0" y="39307"/>
                  </a:lnTo>
                  <a:cubicBezTo>
                    <a:pt x="0" y="17598"/>
                    <a:pt x="17598" y="0"/>
                    <a:pt x="39307" y="0"/>
                  </a:cubicBezTo>
                  <a:close/>
                </a:path>
              </a:pathLst>
            </a:custGeom>
            <a:solidFill>
              <a:srgbClr val="0C698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6579" cy="11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04863" y="5135126"/>
            <a:ext cx="16785310" cy="3403406"/>
          </a:xfrm>
          <a:custGeom>
            <a:avLst/>
            <a:gdLst/>
            <a:ahLst/>
            <a:cxnLst/>
            <a:rect r="r" b="b" t="t" l="l"/>
            <a:pathLst>
              <a:path h="3403406" w="16785310">
                <a:moveTo>
                  <a:pt x="0" y="0"/>
                </a:moveTo>
                <a:lnTo>
                  <a:pt x="16785310" y="0"/>
                </a:lnTo>
                <a:lnTo>
                  <a:pt x="16785310" y="3403406"/>
                </a:lnTo>
                <a:lnTo>
                  <a:pt x="0" y="3403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44452" y="648930"/>
            <a:ext cx="4535023" cy="8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7"/>
              </a:lnSpc>
            </a:pPr>
            <a:r>
              <a:rPr lang="en-US" sz="5967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VERİ SETİ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94033" y="2722944"/>
            <a:ext cx="28436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E1EBED"/>
                </a:solidFill>
                <a:latin typeface="Garet Bold"/>
                <a:ea typeface="Garet Bold"/>
                <a:cs typeface="Garet Bold"/>
                <a:sym typeface="Garet Bold"/>
              </a:rPr>
              <a:t>Ham veri boyutu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5727" y="2004973"/>
            <a:ext cx="4438735" cy="100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4"/>
              </a:lnSpc>
              <a:spcBef>
                <a:spcPct val="0"/>
              </a:spcBef>
            </a:pPr>
            <a:r>
              <a:rPr lang="en-US" b="true" sz="2881">
                <a:solidFill>
                  <a:srgbClr val="FCE1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1,</a:t>
            </a:r>
            <a:r>
              <a:rPr lang="en-US" b="true" sz="2881">
                <a:solidFill>
                  <a:srgbClr val="FCE1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067,371 satır  x  8 sütun</a:t>
            </a:r>
          </a:p>
          <a:p>
            <a:pPr algn="ctr">
              <a:lnSpc>
                <a:spcPts val="4034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6272058" y="1891889"/>
            <a:ext cx="3003032" cy="6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9"/>
              </a:lnSpc>
              <a:spcBef>
                <a:spcPct val="0"/>
              </a:spcBef>
            </a:pPr>
            <a:r>
              <a:rPr lang="en-US" b="true" sz="4021">
                <a:solidFill>
                  <a:srgbClr val="FCE1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73</a:t>
            </a:r>
            <a:r>
              <a:rPr lang="en-US" b="true" sz="4021">
                <a:solidFill>
                  <a:srgbClr val="FCE1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 Günlük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92065" y="1891889"/>
            <a:ext cx="2327185" cy="6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9"/>
              </a:lnSpc>
              <a:spcBef>
                <a:spcPct val="0"/>
              </a:spcBef>
            </a:pPr>
            <a:r>
              <a:rPr lang="en-US" b="true" sz="4021">
                <a:solidFill>
                  <a:srgbClr val="FCE1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247.389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99912" y="2672144"/>
            <a:ext cx="40971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1EBED"/>
                </a:solidFill>
                <a:latin typeface="Garet Bold"/>
                <a:ea typeface="Garet Bold"/>
                <a:cs typeface="Garet Bold"/>
                <a:sym typeface="Garet Bold"/>
              </a:rPr>
              <a:t>(yaklaşık 2 yıllık)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67359" y="2672144"/>
            <a:ext cx="257659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1EBED"/>
                </a:solidFill>
                <a:latin typeface="Garet Bold"/>
                <a:ea typeface="Garet Bold"/>
                <a:cs typeface="Garet Bold"/>
                <a:sym typeface="Garet Bold"/>
              </a:rPr>
              <a:t>Eksik veri sayısı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99059" y="1891889"/>
            <a:ext cx="2327185" cy="6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9"/>
              </a:lnSpc>
              <a:spcBef>
                <a:spcPct val="0"/>
              </a:spcBef>
            </a:pPr>
            <a:r>
              <a:rPr lang="en-US" b="true" sz="4021">
                <a:solidFill>
                  <a:srgbClr val="FCE1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79959" y="2672144"/>
            <a:ext cx="349694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1EBED"/>
                </a:solidFill>
                <a:latin typeface="Garet Bold"/>
                <a:ea typeface="Garet Bold"/>
                <a:cs typeface="Garet Bold"/>
                <a:sym typeface="Garet Bold"/>
              </a:rPr>
              <a:t>Ham değişken sayısı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5225" y="3921641"/>
            <a:ext cx="1627756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Bağımlı Değişken(Toplam Fiyat)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H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 verideki adet ve birim fiyat bilgilerini kullanarak işlem bazlı tutarları hesaplandı, ardından bu verileri günlük bazda tekilleştirerek modelin tahmin edeceği ana hedef olan 'Günlük Toplam Ciro' değişkeni oluşturuldu.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7462533" y="203233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84080" y="1953563"/>
            <a:ext cx="6379874" cy="63798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7863" y="1953563"/>
            <a:ext cx="6379874" cy="63798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3378" y="3846222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6"/>
                </a:lnTo>
                <a:lnTo>
                  <a:pt x="0" y="259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10800000">
            <a:off x="17430813" y="3846222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6"/>
                </a:lnTo>
                <a:lnTo>
                  <a:pt x="0" y="259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351225" y="7006973"/>
            <a:ext cx="1015093" cy="10150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751754" y="7006973"/>
            <a:ext cx="1015093" cy="101509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6317" y="867042"/>
            <a:ext cx="15509975" cy="8497870"/>
            <a:chOff x="0" y="0"/>
            <a:chExt cx="692024" cy="3791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2024" cy="379158"/>
            </a:xfrm>
            <a:custGeom>
              <a:avLst/>
              <a:gdLst/>
              <a:ahLst/>
              <a:cxnLst/>
              <a:rect r="r" b="b" t="t" l="l"/>
              <a:pathLst>
                <a:path h="379158" w="692024">
                  <a:moveTo>
                    <a:pt x="49916" y="0"/>
                  </a:moveTo>
                  <a:lnTo>
                    <a:pt x="642109" y="0"/>
                  </a:lnTo>
                  <a:cubicBezTo>
                    <a:pt x="655347" y="0"/>
                    <a:pt x="668043" y="5259"/>
                    <a:pt x="677404" y="14620"/>
                  </a:cubicBezTo>
                  <a:cubicBezTo>
                    <a:pt x="686765" y="23981"/>
                    <a:pt x="692024" y="36677"/>
                    <a:pt x="692024" y="49916"/>
                  </a:cubicBezTo>
                  <a:lnTo>
                    <a:pt x="692024" y="329242"/>
                  </a:lnTo>
                  <a:cubicBezTo>
                    <a:pt x="692024" y="342481"/>
                    <a:pt x="686765" y="355177"/>
                    <a:pt x="677404" y="364538"/>
                  </a:cubicBezTo>
                  <a:cubicBezTo>
                    <a:pt x="668043" y="373899"/>
                    <a:pt x="655347" y="379158"/>
                    <a:pt x="642109" y="379158"/>
                  </a:cubicBezTo>
                  <a:lnTo>
                    <a:pt x="49916" y="379158"/>
                  </a:lnTo>
                  <a:cubicBezTo>
                    <a:pt x="36677" y="379158"/>
                    <a:pt x="23981" y="373899"/>
                    <a:pt x="14620" y="364538"/>
                  </a:cubicBezTo>
                  <a:cubicBezTo>
                    <a:pt x="5259" y="355177"/>
                    <a:pt x="0" y="342481"/>
                    <a:pt x="0" y="329242"/>
                  </a:cubicBezTo>
                  <a:lnTo>
                    <a:pt x="0" y="49916"/>
                  </a:lnTo>
                  <a:cubicBezTo>
                    <a:pt x="0" y="36677"/>
                    <a:pt x="5259" y="23981"/>
                    <a:pt x="14620" y="14620"/>
                  </a:cubicBezTo>
                  <a:cubicBezTo>
                    <a:pt x="23981" y="5259"/>
                    <a:pt x="36677" y="0"/>
                    <a:pt x="49916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92024" cy="417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190677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493285" y="939898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5"/>
                </a:lnTo>
                <a:lnTo>
                  <a:pt x="0" y="7660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481767" y="3600529"/>
            <a:ext cx="13697837" cy="1159713"/>
          </a:xfrm>
          <a:custGeom>
            <a:avLst/>
            <a:gdLst/>
            <a:ahLst/>
            <a:cxnLst/>
            <a:rect r="r" b="b" t="t" l="l"/>
            <a:pathLst>
              <a:path h="1159713" w="13697837">
                <a:moveTo>
                  <a:pt x="0" y="0"/>
                </a:moveTo>
                <a:lnTo>
                  <a:pt x="13697837" y="0"/>
                </a:lnTo>
                <a:lnTo>
                  <a:pt x="13697837" y="1159713"/>
                </a:lnTo>
                <a:lnTo>
                  <a:pt x="0" y="11597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9243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506111" y="6135040"/>
            <a:ext cx="13673493" cy="1165922"/>
          </a:xfrm>
          <a:custGeom>
            <a:avLst/>
            <a:gdLst/>
            <a:ahLst/>
            <a:cxnLst/>
            <a:rect r="r" b="b" t="t" l="l"/>
            <a:pathLst>
              <a:path h="1165922" w="13673493">
                <a:moveTo>
                  <a:pt x="0" y="0"/>
                </a:moveTo>
                <a:lnTo>
                  <a:pt x="13673493" y="0"/>
                </a:lnTo>
                <a:lnTo>
                  <a:pt x="13673493" y="1165922"/>
                </a:lnTo>
                <a:lnTo>
                  <a:pt x="0" y="1165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0024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481767" y="2337992"/>
            <a:ext cx="13697837" cy="1154679"/>
          </a:xfrm>
          <a:custGeom>
            <a:avLst/>
            <a:gdLst/>
            <a:ahLst/>
            <a:cxnLst/>
            <a:rect r="r" b="b" t="t" l="l"/>
            <a:pathLst>
              <a:path h="1154679" w="13697837">
                <a:moveTo>
                  <a:pt x="0" y="0"/>
                </a:moveTo>
                <a:lnTo>
                  <a:pt x="13697837" y="0"/>
                </a:lnTo>
                <a:lnTo>
                  <a:pt x="13697837" y="1154679"/>
                </a:lnTo>
                <a:lnTo>
                  <a:pt x="0" y="11546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8769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481767" y="4865017"/>
            <a:ext cx="13697837" cy="1165249"/>
          </a:xfrm>
          <a:custGeom>
            <a:avLst/>
            <a:gdLst/>
            <a:ahLst/>
            <a:cxnLst/>
            <a:rect r="r" b="b" t="t" l="l"/>
            <a:pathLst>
              <a:path h="1165249" w="13697837">
                <a:moveTo>
                  <a:pt x="0" y="0"/>
                </a:moveTo>
                <a:lnTo>
                  <a:pt x="13697837" y="0"/>
                </a:lnTo>
                <a:lnTo>
                  <a:pt x="13697837" y="1165248"/>
                </a:lnTo>
                <a:lnTo>
                  <a:pt x="0" y="116524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9765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506111" y="7435581"/>
            <a:ext cx="13673493" cy="1172970"/>
          </a:xfrm>
          <a:custGeom>
            <a:avLst/>
            <a:gdLst/>
            <a:ahLst/>
            <a:cxnLst/>
            <a:rect r="r" b="b" t="t" l="l"/>
            <a:pathLst>
              <a:path h="1172970" w="13673493">
                <a:moveTo>
                  <a:pt x="0" y="0"/>
                </a:moveTo>
                <a:lnTo>
                  <a:pt x="13673493" y="0"/>
                </a:lnTo>
                <a:lnTo>
                  <a:pt x="13673493" y="1172970"/>
                </a:lnTo>
                <a:lnTo>
                  <a:pt x="0" y="11729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-10689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939500" y="1282367"/>
            <a:ext cx="8409001" cy="96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VERİ ÖN İŞLEME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81767" y="9525928"/>
            <a:ext cx="12688094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Önce: 1,067,371 satır → Sonra: ~397.000 temizlenmiş kayıt | Günlük agregasyon → 739 günlük zaman serisi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7046421" y="203233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1948" y="359982"/>
            <a:ext cx="17176660" cy="9774312"/>
            <a:chOff x="0" y="0"/>
            <a:chExt cx="766389" cy="436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389" cy="436110"/>
            </a:xfrm>
            <a:custGeom>
              <a:avLst/>
              <a:gdLst/>
              <a:ahLst/>
              <a:cxnLst/>
              <a:rect r="r" b="b" t="t" l="l"/>
              <a:pathLst>
                <a:path h="436110" w="766389">
                  <a:moveTo>
                    <a:pt x="45072" y="0"/>
                  </a:moveTo>
                  <a:lnTo>
                    <a:pt x="721316" y="0"/>
                  </a:lnTo>
                  <a:cubicBezTo>
                    <a:pt x="733270" y="0"/>
                    <a:pt x="744734" y="4749"/>
                    <a:pt x="753187" y="13201"/>
                  </a:cubicBezTo>
                  <a:cubicBezTo>
                    <a:pt x="761640" y="21654"/>
                    <a:pt x="766389" y="33118"/>
                    <a:pt x="766389" y="45072"/>
                  </a:cubicBezTo>
                  <a:lnTo>
                    <a:pt x="766389" y="391038"/>
                  </a:lnTo>
                  <a:cubicBezTo>
                    <a:pt x="766389" y="402992"/>
                    <a:pt x="761640" y="414456"/>
                    <a:pt x="753187" y="422909"/>
                  </a:cubicBezTo>
                  <a:cubicBezTo>
                    <a:pt x="744734" y="431362"/>
                    <a:pt x="733270" y="436110"/>
                    <a:pt x="721316" y="436110"/>
                  </a:cubicBezTo>
                  <a:lnTo>
                    <a:pt x="45072" y="436110"/>
                  </a:lnTo>
                  <a:cubicBezTo>
                    <a:pt x="33118" y="436110"/>
                    <a:pt x="21654" y="431362"/>
                    <a:pt x="13201" y="422909"/>
                  </a:cubicBezTo>
                  <a:cubicBezTo>
                    <a:pt x="4749" y="414456"/>
                    <a:pt x="0" y="402992"/>
                    <a:pt x="0" y="391038"/>
                  </a:cubicBezTo>
                  <a:lnTo>
                    <a:pt x="0" y="45072"/>
                  </a:lnTo>
                  <a:cubicBezTo>
                    <a:pt x="0" y="33118"/>
                    <a:pt x="4749" y="21654"/>
                    <a:pt x="13201" y="13201"/>
                  </a:cubicBezTo>
                  <a:cubicBezTo>
                    <a:pt x="21654" y="4749"/>
                    <a:pt x="33118" y="0"/>
                    <a:pt x="45072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6389" cy="47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5958" y="1662730"/>
            <a:ext cx="14818932" cy="4871724"/>
          </a:xfrm>
          <a:custGeom>
            <a:avLst/>
            <a:gdLst/>
            <a:ahLst/>
            <a:cxnLst/>
            <a:rect r="r" b="b" t="t" l="l"/>
            <a:pathLst>
              <a:path h="4871724" w="14818932">
                <a:moveTo>
                  <a:pt x="0" y="0"/>
                </a:moveTo>
                <a:lnTo>
                  <a:pt x="14818932" y="0"/>
                </a:lnTo>
                <a:lnTo>
                  <a:pt x="14818932" y="4871724"/>
                </a:lnTo>
                <a:lnTo>
                  <a:pt x="0" y="4871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11731" y="626736"/>
            <a:ext cx="11647386" cy="91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6"/>
              </a:lnSpc>
            </a:pPr>
            <a:r>
              <a:rPr lang="en-US" sz="6816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KEŞİFSEL VERİ ANALİZİ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998" y="6949048"/>
            <a:ext cx="16249874" cy="240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3581" indent="-211791" lvl="1">
              <a:lnSpc>
                <a:spcPts val="2746"/>
              </a:lnSpc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Genel Trend: 2009-2011 yılları arasında cironun taban seviyesinde yukarı yönlü (pozitif) istikrarlı bir büyüme trendi gözlenmektedir.</a:t>
            </a:r>
          </a:p>
          <a:p>
            <a:pPr algn="l" marL="423581" indent="-211791" lvl="1">
              <a:lnSpc>
                <a:spcPts val="2746"/>
              </a:lnSpc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Ortalama Günlük Ciro: Kararlı (rutin) dönemlerde günlük ciro ortalama £15,000 ile £30,000 bandı arasında seyretmektedir.</a:t>
            </a:r>
          </a:p>
          <a:p>
            <a:pPr algn="l" marL="423581" indent="-211791" lvl="1">
              <a:lnSpc>
                <a:spcPts val="2746"/>
              </a:lnSpc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Maksimum Günlük Ciro: Kampanya ve yıl sonu ivmesinin yaşandığı zirve noktasında günlük ciro £70,000 seviyesini aşmıştır.</a:t>
            </a:r>
          </a:p>
          <a:p>
            <a:pPr algn="l" marL="423581" indent="-211791" lvl="1">
              <a:lnSpc>
                <a:spcPts val="2746"/>
              </a:lnSpc>
              <a:spcBef>
                <a:spcPct val="0"/>
              </a:spcBef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Yıl Sonu İvmesi: Her yıl Eylül-Kasım </a:t>
            </a:r>
            <a:r>
              <a:rPr lang="en-US" sz="19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arasında ciro %60-80 artış göstermektedir. Kampanya dönemleri dikey sıçramalar (spike) yaratır.</a:t>
            </a:r>
          </a:p>
          <a:p>
            <a:pPr algn="l" marL="423581" indent="-211791" lvl="1">
              <a:lnSpc>
                <a:spcPts val="2746"/>
              </a:lnSpc>
              <a:spcBef>
                <a:spcPct val="0"/>
              </a:spcBef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Haftalık Döngü: Veride Perşembe-Cuma zirvesi ve hafta sonu düşüşü belirgindir. Bu ritim 7 günlük Fourier terimleriyle modellenmiştir.</a:t>
            </a:r>
          </a:p>
          <a:p>
            <a:pPr algn="l" marL="423581" indent="-211791" lvl="1">
              <a:lnSpc>
                <a:spcPts val="2746"/>
              </a:lnSpc>
              <a:spcBef>
                <a:spcPct val="0"/>
              </a:spcBef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Ocak 'Reset' Etkisi: Noel ve yeni yıl sonrası (post-tatil) Ocak ayında yaşanan sert düşüş etkisi her yıl düzenli olarak tekrarlanmaktadır.</a:t>
            </a:r>
          </a:p>
          <a:p>
            <a:pPr algn="l">
              <a:lnSpc>
                <a:spcPts val="2746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195875" y="203233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6" y="0"/>
                </a:lnTo>
                <a:lnTo>
                  <a:pt x="825466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670" y="256344"/>
            <a:ext cx="17176660" cy="9774312"/>
            <a:chOff x="0" y="0"/>
            <a:chExt cx="766389" cy="436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389" cy="436110"/>
            </a:xfrm>
            <a:custGeom>
              <a:avLst/>
              <a:gdLst/>
              <a:ahLst/>
              <a:cxnLst/>
              <a:rect r="r" b="b" t="t" l="l"/>
              <a:pathLst>
                <a:path h="436110" w="766389">
                  <a:moveTo>
                    <a:pt x="45072" y="0"/>
                  </a:moveTo>
                  <a:lnTo>
                    <a:pt x="721316" y="0"/>
                  </a:lnTo>
                  <a:cubicBezTo>
                    <a:pt x="733270" y="0"/>
                    <a:pt x="744734" y="4749"/>
                    <a:pt x="753187" y="13201"/>
                  </a:cubicBezTo>
                  <a:cubicBezTo>
                    <a:pt x="761640" y="21654"/>
                    <a:pt x="766389" y="33118"/>
                    <a:pt x="766389" y="45072"/>
                  </a:cubicBezTo>
                  <a:lnTo>
                    <a:pt x="766389" y="391038"/>
                  </a:lnTo>
                  <a:cubicBezTo>
                    <a:pt x="766389" y="402992"/>
                    <a:pt x="761640" y="414456"/>
                    <a:pt x="753187" y="422909"/>
                  </a:cubicBezTo>
                  <a:cubicBezTo>
                    <a:pt x="744734" y="431362"/>
                    <a:pt x="733270" y="436110"/>
                    <a:pt x="721316" y="436110"/>
                  </a:cubicBezTo>
                  <a:lnTo>
                    <a:pt x="45072" y="436110"/>
                  </a:lnTo>
                  <a:cubicBezTo>
                    <a:pt x="33118" y="436110"/>
                    <a:pt x="21654" y="431362"/>
                    <a:pt x="13201" y="422909"/>
                  </a:cubicBezTo>
                  <a:cubicBezTo>
                    <a:pt x="4749" y="414456"/>
                    <a:pt x="0" y="402992"/>
                    <a:pt x="0" y="391038"/>
                  </a:cubicBezTo>
                  <a:lnTo>
                    <a:pt x="0" y="45072"/>
                  </a:lnTo>
                  <a:cubicBezTo>
                    <a:pt x="0" y="33118"/>
                    <a:pt x="4749" y="21654"/>
                    <a:pt x="13201" y="13201"/>
                  </a:cubicBezTo>
                  <a:cubicBezTo>
                    <a:pt x="21654" y="4749"/>
                    <a:pt x="33118" y="0"/>
                    <a:pt x="45072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6389" cy="47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55771" y="1635215"/>
            <a:ext cx="9424142" cy="3049757"/>
          </a:xfrm>
          <a:custGeom>
            <a:avLst/>
            <a:gdLst/>
            <a:ahLst/>
            <a:cxnLst/>
            <a:rect r="r" b="b" t="t" l="l"/>
            <a:pathLst>
              <a:path h="3049757" w="9424142">
                <a:moveTo>
                  <a:pt x="0" y="0"/>
                </a:moveTo>
                <a:lnTo>
                  <a:pt x="9424143" y="0"/>
                </a:lnTo>
                <a:lnTo>
                  <a:pt x="9424143" y="3049757"/>
                </a:lnTo>
                <a:lnTo>
                  <a:pt x="0" y="3049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55771" y="4180376"/>
            <a:ext cx="9424142" cy="3049757"/>
          </a:xfrm>
          <a:custGeom>
            <a:avLst/>
            <a:gdLst/>
            <a:ahLst/>
            <a:cxnLst/>
            <a:rect r="r" b="b" t="t" l="l"/>
            <a:pathLst>
              <a:path h="3049757" w="9424142">
                <a:moveTo>
                  <a:pt x="0" y="0"/>
                </a:moveTo>
                <a:lnTo>
                  <a:pt x="9424143" y="0"/>
                </a:lnTo>
                <a:lnTo>
                  <a:pt x="9424143" y="3049757"/>
                </a:lnTo>
                <a:lnTo>
                  <a:pt x="0" y="3049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55771" y="6734389"/>
            <a:ext cx="9424142" cy="3049757"/>
          </a:xfrm>
          <a:custGeom>
            <a:avLst/>
            <a:gdLst/>
            <a:ahLst/>
            <a:cxnLst/>
            <a:rect r="r" b="b" t="t" l="l"/>
            <a:pathLst>
              <a:path h="3049757" w="9424142">
                <a:moveTo>
                  <a:pt x="0" y="0"/>
                </a:moveTo>
                <a:lnTo>
                  <a:pt x="9424143" y="0"/>
                </a:lnTo>
                <a:lnTo>
                  <a:pt x="9424143" y="3049758"/>
                </a:lnTo>
                <a:lnTo>
                  <a:pt x="0" y="3049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6486" y="1777050"/>
            <a:ext cx="6756338" cy="5697020"/>
          </a:xfrm>
          <a:custGeom>
            <a:avLst/>
            <a:gdLst/>
            <a:ahLst/>
            <a:cxnLst/>
            <a:rect r="r" b="b" t="t" l="l"/>
            <a:pathLst>
              <a:path h="5697020" w="6756338">
                <a:moveTo>
                  <a:pt x="0" y="0"/>
                </a:moveTo>
                <a:lnTo>
                  <a:pt x="6756338" y="0"/>
                </a:lnTo>
                <a:lnTo>
                  <a:pt x="6756338" y="5697021"/>
                </a:lnTo>
                <a:lnTo>
                  <a:pt x="0" y="5697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28" t="0" r="0" b="-398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2246" y="7650801"/>
            <a:ext cx="228515" cy="228515"/>
          </a:xfrm>
          <a:custGeom>
            <a:avLst/>
            <a:gdLst/>
            <a:ahLst/>
            <a:cxnLst/>
            <a:rect r="r" b="b" t="t" l="l"/>
            <a:pathLst>
              <a:path h="228515" w="228515">
                <a:moveTo>
                  <a:pt x="0" y="0"/>
                </a:moveTo>
                <a:lnTo>
                  <a:pt x="228515" y="0"/>
                </a:lnTo>
                <a:lnTo>
                  <a:pt x="228515" y="228515"/>
                </a:lnTo>
                <a:lnTo>
                  <a:pt x="0" y="228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36486" y="656692"/>
            <a:ext cx="15670470" cy="85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6"/>
              </a:lnSpc>
            </a:pPr>
            <a:r>
              <a:rPr lang="en-US" sz="6416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ABC ANALİZİ — PARETO PRENSİBİ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0824" y="8240218"/>
            <a:ext cx="8070601" cy="90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  <a:spcBef>
                <a:spcPct val="0"/>
              </a:spcBef>
            </a:pPr>
            <a:r>
              <a:rPr lang="en-US" sz="17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Pareto ilkesinin bu veri setinde birebir doğrulandığı görülmektedir. A sınıfı ürünlerin izolasyonu hem hesaplama verimliliğini artırmış hem de modelin yüksek değerli tahminlere odaklanmasını sağlamıştır.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6486" y="7610436"/>
            <a:ext cx="196262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Sınıfı - %80 Ciro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656161" y="7679101"/>
            <a:ext cx="228515" cy="228515"/>
          </a:xfrm>
          <a:custGeom>
            <a:avLst/>
            <a:gdLst/>
            <a:ahLst/>
            <a:cxnLst/>
            <a:rect r="r" b="b" t="t" l="l"/>
            <a:pathLst>
              <a:path h="228515" w="228515">
                <a:moveTo>
                  <a:pt x="0" y="0"/>
                </a:moveTo>
                <a:lnTo>
                  <a:pt x="228515" y="0"/>
                </a:lnTo>
                <a:lnTo>
                  <a:pt x="228515" y="228515"/>
                </a:lnTo>
                <a:lnTo>
                  <a:pt x="0" y="2285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18493" y="7679101"/>
            <a:ext cx="228515" cy="228515"/>
          </a:xfrm>
          <a:custGeom>
            <a:avLst/>
            <a:gdLst/>
            <a:ahLst/>
            <a:cxnLst/>
            <a:rect r="r" b="b" t="t" l="l"/>
            <a:pathLst>
              <a:path h="228515" w="228515">
                <a:moveTo>
                  <a:pt x="0" y="0"/>
                </a:moveTo>
                <a:lnTo>
                  <a:pt x="228515" y="0"/>
                </a:lnTo>
                <a:lnTo>
                  <a:pt x="228515" y="228515"/>
                </a:lnTo>
                <a:lnTo>
                  <a:pt x="0" y="2285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00327" y="7584401"/>
            <a:ext cx="20304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Sınıfı - %15 Ciro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31954" y="7612701"/>
            <a:ext cx="190531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Sınıfı - %5 Ciro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259300" y="129659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6"/>
                </a:lnTo>
                <a:lnTo>
                  <a:pt x="0" y="825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670" y="256344"/>
            <a:ext cx="17176660" cy="9774312"/>
            <a:chOff x="0" y="0"/>
            <a:chExt cx="766389" cy="436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389" cy="436110"/>
            </a:xfrm>
            <a:custGeom>
              <a:avLst/>
              <a:gdLst/>
              <a:ahLst/>
              <a:cxnLst/>
              <a:rect r="r" b="b" t="t" l="l"/>
              <a:pathLst>
                <a:path h="436110" w="766389">
                  <a:moveTo>
                    <a:pt x="45072" y="0"/>
                  </a:moveTo>
                  <a:lnTo>
                    <a:pt x="721316" y="0"/>
                  </a:lnTo>
                  <a:cubicBezTo>
                    <a:pt x="733270" y="0"/>
                    <a:pt x="744734" y="4749"/>
                    <a:pt x="753187" y="13201"/>
                  </a:cubicBezTo>
                  <a:cubicBezTo>
                    <a:pt x="761640" y="21654"/>
                    <a:pt x="766389" y="33118"/>
                    <a:pt x="766389" y="45072"/>
                  </a:cubicBezTo>
                  <a:lnTo>
                    <a:pt x="766389" y="391038"/>
                  </a:lnTo>
                  <a:cubicBezTo>
                    <a:pt x="766389" y="402992"/>
                    <a:pt x="761640" y="414456"/>
                    <a:pt x="753187" y="422909"/>
                  </a:cubicBezTo>
                  <a:cubicBezTo>
                    <a:pt x="744734" y="431362"/>
                    <a:pt x="733270" y="436110"/>
                    <a:pt x="721316" y="436110"/>
                  </a:cubicBezTo>
                  <a:lnTo>
                    <a:pt x="45072" y="436110"/>
                  </a:lnTo>
                  <a:cubicBezTo>
                    <a:pt x="33118" y="436110"/>
                    <a:pt x="21654" y="431362"/>
                    <a:pt x="13201" y="422909"/>
                  </a:cubicBezTo>
                  <a:cubicBezTo>
                    <a:pt x="4749" y="414456"/>
                    <a:pt x="0" y="402992"/>
                    <a:pt x="0" y="391038"/>
                  </a:cubicBezTo>
                  <a:lnTo>
                    <a:pt x="0" y="45072"/>
                  </a:lnTo>
                  <a:cubicBezTo>
                    <a:pt x="0" y="33118"/>
                    <a:pt x="4749" y="21654"/>
                    <a:pt x="13201" y="13201"/>
                  </a:cubicBezTo>
                  <a:cubicBezTo>
                    <a:pt x="21654" y="4749"/>
                    <a:pt x="33118" y="0"/>
                    <a:pt x="45072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6389" cy="47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0930" y="1753111"/>
            <a:ext cx="15346125" cy="5486240"/>
          </a:xfrm>
          <a:custGeom>
            <a:avLst/>
            <a:gdLst/>
            <a:ahLst/>
            <a:cxnLst/>
            <a:rect r="r" b="b" t="t" l="l"/>
            <a:pathLst>
              <a:path h="5486240" w="15346125">
                <a:moveTo>
                  <a:pt x="0" y="0"/>
                </a:moveTo>
                <a:lnTo>
                  <a:pt x="15346125" y="0"/>
                </a:lnTo>
                <a:lnTo>
                  <a:pt x="15346125" y="5486240"/>
                </a:lnTo>
                <a:lnTo>
                  <a:pt x="0" y="5486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56929" y="746324"/>
            <a:ext cx="4867349" cy="87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1"/>
              </a:lnSpc>
            </a:pPr>
            <a:r>
              <a:rPr lang="en-US" sz="6531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VOLALİTE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4247" y="8641958"/>
            <a:ext cx="16357787" cy="160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Yüksek Gürültü (Noise): %86.2'lik CV değeri, veride stand</a:t>
            </a:r>
            <a:r>
              <a:rPr lang="en-US" sz="18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art sapmanın ortalamaya yaklaştığını gösterir. Bu durum, kampanya dönemlerindeki ani sıçramaların (peaks) baskın karakterini kanıtlar.</a:t>
            </a:r>
          </a:p>
          <a:p>
            <a:pPr algn="l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Klasik modellerin bu volatilite altında hata payı çok yüksektir. Hibrit XGBoost ve Bi-LSTM kullanımı, bu "kaotik" yapıyı öğrenmek için temel stratejimizdir.</a:t>
            </a:r>
          </a:p>
          <a:p>
            <a:pPr algn="l">
              <a:lnSpc>
                <a:spcPts val="2592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7315310"/>
            <a:ext cx="4256304" cy="1279023"/>
            <a:chOff x="0" y="0"/>
            <a:chExt cx="189908" cy="570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908" cy="57067"/>
            </a:xfrm>
            <a:custGeom>
              <a:avLst/>
              <a:gdLst/>
              <a:ahLst/>
              <a:cxnLst/>
              <a:rect r="r" b="b" t="t" l="l"/>
              <a:pathLst>
                <a:path h="57067" w="189908">
                  <a:moveTo>
                    <a:pt x="28534" y="0"/>
                  </a:moveTo>
                  <a:lnTo>
                    <a:pt x="161374" y="0"/>
                  </a:lnTo>
                  <a:cubicBezTo>
                    <a:pt x="168942" y="0"/>
                    <a:pt x="176199" y="3006"/>
                    <a:pt x="181551" y="8357"/>
                  </a:cubicBezTo>
                  <a:cubicBezTo>
                    <a:pt x="186902" y="13708"/>
                    <a:pt x="189908" y="20966"/>
                    <a:pt x="189908" y="28534"/>
                  </a:cubicBezTo>
                  <a:lnTo>
                    <a:pt x="189908" y="28534"/>
                  </a:lnTo>
                  <a:cubicBezTo>
                    <a:pt x="189908" y="44292"/>
                    <a:pt x="177133" y="57067"/>
                    <a:pt x="161374" y="57067"/>
                  </a:cubicBezTo>
                  <a:lnTo>
                    <a:pt x="28534" y="57067"/>
                  </a:lnTo>
                  <a:cubicBezTo>
                    <a:pt x="12775" y="57067"/>
                    <a:pt x="0" y="44292"/>
                    <a:pt x="0" y="28534"/>
                  </a:cubicBezTo>
                  <a:lnTo>
                    <a:pt x="0" y="28534"/>
                  </a:lnTo>
                  <a:cubicBezTo>
                    <a:pt x="0" y="12775"/>
                    <a:pt x="12775" y="0"/>
                    <a:pt x="28534" y="0"/>
                  </a:cubicBezTo>
                  <a:close/>
                </a:path>
              </a:pathLst>
            </a:custGeom>
            <a:solidFill>
              <a:srgbClr val="05617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9908" cy="9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62863" y="7313402"/>
            <a:ext cx="4151380" cy="1280931"/>
            <a:chOff x="0" y="0"/>
            <a:chExt cx="185226" cy="571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5226" cy="57153"/>
            </a:xfrm>
            <a:custGeom>
              <a:avLst/>
              <a:gdLst/>
              <a:ahLst/>
              <a:cxnLst/>
              <a:rect r="r" b="b" t="t" l="l"/>
              <a:pathLst>
                <a:path h="57153" w="185226">
                  <a:moveTo>
                    <a:pt x="28576" y="0"/>
                  </a:moveTo>
                  <a:lnTo>
                    <a:pt x="156650" y="0"/>
                  </a:lnTo>
                  <a:cubicBezTo>
                    <a:pt x="172432" y="0"/>
                    <a:pt x="185226" y="12794"/>
                    <a:pt x="185226" y="28576"/>
                  </a:cubicBezTo>
                  <a:lnTo>
                    <a:pt x="185226" y="28576"/>
                  </a:lnTo>
                  <a:cubicBezTo>
                    <a:pt x="185226" y="44359"/>
                    <a:pt x="172432" y="57153"/>
                    <a:pt x="156650" y="57153"/>
                  </a:cubicBezTo>
                  <a:lnTo>
                    <a:pt x="28576" y="57153"/>
                  </a:lnTo>
                  <a:cubicBezTo>
                    <a:pt x="12794" y="57153"/>
                    <a:pt x="0" y="44359"/>
                    <a:pt x="0" y="28576"/>
                  </a:cubicBezTo>
                  <a:lnTo>
                    <a:pt x="0" y="28576"/>
                  </a:lnTo>
                  <a:cubicBezTo>
                    <a:pt x="0" y="12794"/>
                    <a:pt x="12794" y="0"/>
                    <a:pt x="28576" y="0"/>
                  </a:cubicBezTo>
                  <a:close/>
                </a:path>
              </a:pathLst>
            </a:custGeom>
            <a:solidFill>
              <a:srgbClr val="0C698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5226" cy="95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13435" y="7489013"/>
            <a:ext cx="388683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rtalama Değişim Katsayısı (CV)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85649" y="7968022"/>
            <a:ext cx="118416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%86.2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81075" y="7489013"/>
            <a:ext cx="391495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Yüksek Volatilite Kategorisi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77146" y="7923988"/>
            <a:ext cx="391495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3,146</a:t>
            </a:r>
            <a:r>
              <a:rPr lang="en-US" sz="18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 Ürün (%74.3)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90443" y="7313402"/>
            <a:ext cx="3883924" cy="1279023"/>
            <a:chOff x="0" y="0"/>
            <a:chExt cx="173293" cy="570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293" cy="57067"/>
            </a:xfrm>
            <a:custGeom>
              <a:avLst/>
              <a:gdLst/>
              <a:ahLst/>
              <a:cxnLst/>
              <a:rect r="r" b="b" t="t" l="l"/>
              <a:pathLst>
                <a:path h="57067" w="173293">
                  <a:moveTo>
                    <a:pt x="28534" y="0"/>
                  </a:moveTo>
                  <a:lnTo>
                    <a:pt x="144759" y="0"/>
                  </a:lnTo>
                  <a:cubicBezTo>
                    <a:pt x="160518" y="0"/>
                    <a:pt x="173293" y="12775"/>
                    <a:pt x="173293" y="28534"/>
                  </a:cubicBezTo>
                  <a:lnTo>
                    <a:pt x="173293" y="28534"/>
                  </a:lnTo>
                  <a:cubicBezTo>
                    <a:pt x="173293" y="44292"/>
                    <a:pt x="160518" y="57067"/>
                    <a:pt x="144759" y="57067"/>
                  </a:cubicBezTo>
                  <a:lnTo>
                    <a:pt x="28534" y="57067"/>
                  </a:lnTo>
                  <a:cubicBezTo>
                    <a:pt x="12775" y="57067"/>
                    <a:pt x="0" y="44292"/>
                    <a:pt x="0" y="28534"/>
                  </a:cubicBezTo>
                  <a:lnTo>
                    <a:pt x="0" y="28534"/>
                  </a:lnTo>
                  <a:cubicBezTo>
                    <a:pt x="0" y="12775"/>
                    <a:pt x="12775" y="0"/>
                    <a:pt x="28534" y="0"/>
                  </a:cubicBezTo>
                  <a:close/>
                </a:path>
              </a:pathLst>
            </a:custGeom>
            <a:solidFill>
              <a:srgbClr val="0C698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3293" cy="9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50567" y="7313402"/>
            <a:ext cx="3930472" cy="1279023"/>
            <a:chOff x="0" y="0"/>
            <a:chExt cx="175370" cy="570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5370" cy="57067"/>
            </a:xfrm>
            <a:custGeom>
              <a:avLst/>
              <a:gdLst/>
              <a:ahLst/>
              <a:cxnLst/>
              <a:rect r="r" b="b" t="t" l="l"/>
              <a:pathLst>
                <a:path h="57067" w="175370">
                  <a:moveTo>
                    <a:pt x="28534" y="0"/>
                  </a:moveTo>
                  <a:lnTo>
                    <a:pt x="146836" y="0"/>
                  </a:lnTo>
                  <a:cubicBezTo>
                    <a:pt x="162595" y="0"/>
                    <a:pt x="175370" y="12775"/>
                    <a:pt x="175370" y="28534"/>
                  </a:cubicBezTo>
                  <a:lnTo>
                    <a:pt x="175370" y="28534"/>
                  </a:lnTo>
                  <a:cubicBezTo>
                    <a:pt x="175370" y="44292"/>
                    <a:pt x="162595" y="57067"/>
                    <a:pt x="146836" y="57067"/>
                  </a:cubicBezTo>
                  <a:lnTo>
                    <a:pt x="28534" y="57067"/>
                  </a:lnTo>
                  <a:cubicBezTo>
                    <a:pt x="12775" y="57067"/>
                    <a:pt x="0" y="44292"/>
                    <a:pt x="0" y="28534"/>
                  </a:cubicBezTo>
                  <a:lnTo>
                    <a:pt x="0" y="28534"/>
                  </a:lnTo>
                  <a:cubicBezTo>
                    <a:pt x="0" y="12775"/>
                    <a:pt x="12775" y="0"/>
                    <a:pt x="28534" y="0"/>
                  </a:cubicBezTo>
                  <a:close/>
                </a:path>
              </a:pathLst>
            </a:custGeom>
            <a:solidFill>
              <a:srgbClr val="0C698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5370" cy="9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635611" y="7489013"/>
            <a:ext cx="391495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Orta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Volatilite Kategorisi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66083" y="7489013"/>
            <a:ext cx="391495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Düşük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Volatilite Kategorisi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7225" y="7879757"/>
            <a:ext cx="391495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F995E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1899">
                <a:solidFill>
                  <a:srgbClr val="EF995E"/>
                </a:solidFill>
                <a:latin typeface="Canva Sans"/>
                <a:ea typeface="Canva Sans"/>
                <a:cs typeface="Canva Sans"/>
                <a:sym typeface="Canva Sans"/>
              </a:rPr>
              <a:t>,024</a:t>
            </a:r>
            <a:r>
              <a:rPr lang="en-US" sz="1899">
                <a:solidFill>
                  <a:srgbClr val="EF995E"/>
                </a:solidFill>
                <a:latin typeface="Canva Sans"/>
                <a:ea typeface="Canva Sans"/>
                <a:cs typeface="Canva Sans"/>
                <a:sym typeface="Canva Sans"/>
              </a:rPr>
              <a:t> Ürün (%24.2)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50567" y="7879757"/>
            <a:ext cx="391495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BF63"/>
                </a:solidFill>
                <a:latin typeface="Canva Sans"/>
                <a:ea typeface="Canva Sans"/>
                <a:cs typeface="Canva Sans"/>
                <a:sym typeface="Canva Sans"/>
              </a:rPr>
              <a:t>60</a:t>
            </a:r>
            <a:r>
              <a:rPr lang="en-US" sz="1899">
                <a:solidFill>
                  <a:srgbClr val="00BF63"/>
                </a:solidFill>
                <a:latin typeface="Canva Sans"/>
                <a:ea typeface="Canva Sans"/>
                <a:cs typeface="Canva Sans"/>
                <a:sym typeface="Canva Sans"/>
              </a:rPr>
              <a:t> Ürün (%1.4)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7259300" y="203233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82" y="1211185"/>
            <a:ext cx="9221084" cy="3868242"/>
          </a:xfrm>
          <a:custGeom>
            <a:avLst/>
            <a:gdLst/>
            <a:ahLst/>
            <a:cxnLst/>
            <a:rect r="r" b="b" t="t" l="l"/>
            <a:pathLst>
              <a:path h="3868242" w="9221084">
                <a:moveTo>
                  <a:pt x="0" y="0"/>
                </a:moveTo>
                <a:lnTo>
                  <a:pt x="9221084" y="0"/>
                </a:lnTo>
                <a:lnTo>
                  <a:pt x="9221084" y="3868242"/>
                </a:lnTo>
                <a:lnTo>
                  <a:pt x="0" y="386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56" t="-4518" r="-10933" b="-2104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86245" y="1211185"/>
            <a:ext cx="9420931" cy="3868242"/>
          </a:xfrm>
          <a:custGeom>
            <a:avLst/>
            <a:gdLst/>
            <a:ahLst/>
            <a:cxnLst/>
            <a:rect r="r" b="b" t="t" l="l"/>
            <a:pathLst>
              <a:path h="3868242" w="9420931">
                <a:moveTo>
                  <a:pt x="0" y="0"/>
                </a:moveTo>
                <a:lnTo>
                  <a:pt x="9420932" y="0"/>
                </a:lnTo>
                <a:lnTo>
                  <a:pt x="9420932" y="3868242"/>
                </a:lnTo>
                <a:lnTo>
                  <a:pt x="0" y="3868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45" t="-5062" r="-7944" b="-1960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450" y="5261912"/>
            <a:ext cx="8614637" cy="3996388"/>
          </a:xfrm>
          <a:custGeom>
            <a:avLst/>
            <a:gdLst/>
            <a:ahLst/>
            <a:cxnLst/>
            <a:rect r="r" b="b" t="t" l="l"/>
            <a:pathLst>
              <a:path h="3996388" w="8614637">
                <a:moveTo>
                  <a:pt x="0" y="0"/>
                </a:moveTo>
                <a:lnTo>
                  <a:pt x="8614637" y="0"/>
                </a:lnTo>
                <a:lnTo>
                  <a:pt x="8614637" y="3996388"/>
                </a:lnTo>
                <a:lnTo>
                  <a:pt x="0" y="3996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13" t="-837" r="-4871" b="-789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5097" y="5388027"/>
            <a:ext cx="9342079" cy="3870273"/>
          </a:xfrm>
          <a:custGeom>
            <a:avLst/>
            <a:gdLst/>
            <a:ahLst/>
            <a:cxnLst/>
            <a:rect r="r" b="b" t="t" l="l"/>
            <a:pathLst>
              <a:path h="3870273" w="9342079">
                <a:moveTo>
                  <a:pt x="0" y="0"/>
                </a:moveTo>
                <a:lnTo>
                  <a:pt x="9342080" y="0"/>
                </a:lnTo>
                <a:lnTo>
                  <a:pt x="9342080" y="3870273"/>
                </a:lnTo>
                <a:lnTo>
                  <a:pt x="0" y="3870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32" t="-7605" r="-9360" b="-1898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0574" y="333559"/>
            <a:ext cx="15247025" cy="69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2"/>
              </a:lnSpc>
            </a:pPr>
            <a:r>
              <a:rPr lang="en-US" sz="52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ÖZELLİK MÜHENDİSLİĞİ — 38 DEĞİŞKEN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670" y="256344"/>
            <a:ext cx="17176660" cy="9774312"/>
            <a:chOff x="0" y="0"/>
            <a:chExt cx="766389" cy="436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389" cy="436110"/>
            </a:xfrm>
            <a:custGeom>
              <a:avLst/>
              <a:gdLst/>
              <a:ahLst/>
              <a:cxnLst/>
              <a:rect r="r" b="b" t="t" l="l"/>
              <a:pathLst>
                <a:path h="436110" w="766389">
                  <a:moveTo>
                    <a:pt x="45072" y="0"/>
                  </a:moveTo>
                  <a:lnTo>
                    <a:pt x="721316" y="0"/>
                  </a:lnTo>
                  <a:cubicBezTo>
                    <a:pt x="733270" y="0"/>
                    <a:pt x="744734" y="4749"/>
                    <a:pt x="753187" y="13201"/>
                  </a:cubicBezTo>
                  <a:cubicBezTo>
                    <a:pt x="761640" y="21654"/>
                    <a:pt x="766389" y="33118"/>
                    <a:pt x="766389" y="45072"/>
                  </a:cubicBezTo>
                  <a:lnTo>
                    <a:pt x="766389" y="391038"/>
                  </a:lnTo>
                  <a:cubicBezTo>
                    <a:pt x="766389" y="402992"/>
                    <a:pt x="761640" y="414456"/>
                    <a:pt x="753187" y="422909"/>
                  </a:cubicBezTo>
                  <a:cubicBezTo>
                    <a:pt x="744734" y="431362"/>
                    <a:pt x="733270" y="436110"/>
                    <a:pt x="721316" y="436110"/>
                  </a:cubicBezTo>
                  <a:lnTo>
                    <a:pt x="45072" y="436110"/>
                  </a:lnTo>
                  <a:cubicBezTo>
                    <a:pt x="33118" y="436110"/>
                    <a:pt x="21654" y="431362"/>
                    <a:pt x="13201" y="422909"/>
                  </a:cubicBezTo>
                  <a:cubicBezTo>
                    <a:pt x="4749" y="414456"/>
                    <a:pt x="0" y="402992"/>
                    <a:pt x="0" y="391038"/>
                  </a:cubicBezTo>
                  <a:lnTo>
                    <a:pt x="0" y="45072"/>
                  </a:lnTo>
                  <a:cubicBezTo>
                    <a:pt x="0" y="33118"/>
                    <a:pt x="4749" y="21654"/>
                    <a:pt x="13201" y="13201"/>
                  </a:cubicBezTo>
                  <a:cubicBezTo>
                    <a:pt x="21654" y="4749"/>
                    <a:pt x="33118" y="0"/>
                    <a:pt x="45072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6389" cy="47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81315" y="1488412"/>
            <a:ext cx="14351703" cy="5346010"/>
          </a:xfrm>
          <a:custGeom>
            <a:avLst/>
            <a:gdLst/>
            <a:ahLst/>
            <a:cxnLst/>
            <a:rect r="r" b="b" t="t" l="l"/>
            <a:pathLst>
              <a:path h="5346010" w="14351703">
                <a:moveTo>
                  <a:pt x="0" y="0"/>
                </a:moveTo>
                <a:lnTo>
                  <a:pt x="14351703" y="0"/>
                </a:lnTo>
                <a:lnTo>
                  <a:pt x="14351703" y="5346010"/>
                </a:lnTo>
                <a:lnTo>
                  <a:pt x="0" y="5346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81315" y="7183023"/>
            <a:ext cx="5712601" cy="2090503"/>
            <a:chOff x="0" y="0"/>
            <a:chExt cx="1504553" cy="550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4553" cy="550585"/>
            </a:xfrm>
            <a:custGeom>
              <a:avLst/>
              <a:gdLst/>
              <a:ahLst/>
              <a:cxnLst/>
              <a:rect r="r" b="b" t="t" l="l"/>
              <a:pathLst>
                <a:path h="550585" w="1504553">
                  <a:moveTo>
                    <a:pt x="0" y="0"/>
                  </a:moveTo>
                  <a:lnTo>
                    <a:pt x="1504553" y="0"/>
                  </a:lnTo>
                  <a:lnTo>
                    <a:pt x="1504553" y="550585"/>
                  </a:lnTo>
                  <a:lnTo>
                    <a:pt x="0" y="550585"/>
                  </a:ln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04553" cy="588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306217" y="7183023"/>
            <a:ext cx="4430730" cy="2090503"/>
            <a:chOff x="0" y="0"/>
            <a:chExt cx="1166941" cy="5505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6941" cy="550585"/>
            </a:xfrm>
            <a:custGeom>
              <a:avLst/>
              <a:gdLst/>
              <a:ahLst/>
              <a:cxnLst/>
              <a:rect r="r" b="b" t="t" l="l"/>
              <a:pathLst>
                <a:path h="550585" w="1166941">
                  <a:moveTo>
                    <a:pt x="0" y="0"/>
                  </a:moveTo>
                  <a:lnTo>
                    <a:pt x="1166941" y="0"/>
                  </a:lnTo>
                  <a:lnTo>
                    <a:pt x="1166941" y="550585"/>
                  </a:lnTo>
                  <a:lnTo>
                    <a:pt x="0" y="550585"/>
                  </a:ln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66941" cy="588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50986" y="618458"/>
            <a:ext cx="15212361" cy="54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40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VERİ DÖNÜŞÜMÜ — NP.LOG1P() &amp; MINMAXSCALER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14707" y="7242176"/>
            <a:ext cx="567921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CE170"/>
                </a:solidFill>
                <a:latin typeface="Canva Sans"/>
                <a:ea typeface="Canva Sans"/>
                <a:cs typeface="Canva Sans"/>
                <a:sym typeface="Canva Sans"/>
              </a:rPr>
              <a:t>XGBoost İçin Logaritmik Dönüşüm (np.log1p)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1534" y="7242176"/>
            <a:ext cx="376256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CE170"/>
                </a:solidFill>
                <a:latin typeface="Canva Sans"/>
                <a:ea typeface="Canva Sans"/>
                <a:cs typeface="Canva Sans"/>
                <a:sym typeface="Canva Sans"/>
              </a:rPr>
              <a:t>Bi-LSTM İçin MinMax Önişleme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49458" y="7783499"/>
            <a:ext cx="4976315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Varyansı dengelemek ve sağa çarpık (skewed) ciro dağılımını normal dağılıma yaklaştırmak için verilere logaritmik dönüşüm uygulanmıştır.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71534" y="7717791"/>
            <a:ext cx="3715421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Derin öğrenme modeline girmeden önce tüm öznitelikler 0 ile 1 arasına sıkıştırılarak ölçeklenmiştir.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065755" y="7198250"/>
            <a:ext cx="4112778" cy="2075277"/>
            <a:chOff x="0" y="0"/>
            <a:chExt cx="1083201" cy="546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3201" cy="546575"/>
            </a:xfrm>
            <a:custGeom>
              <a:avLst/>
              <a:gdLst/>
              <a:ahLst/>
              <a:cxnLst/>
              <a:rect r="r" b="b" t="t" l="l"/>
              <a:pathLst>
                <a:path h="546575" w="1083201">
                  <a:moveTo>
                    <a:pt x="0" y="0"/>
                  </a:moveTo>
                  <a:lnTo>
                    <a:pt x="1083201" y="0"/>
                  </a:lnTo>
                  <a:lnTo>
                    <a:pt x="1083201" y="546575"/>
                  </a:lnTo>
                  <a:lnTo>
                    <a:pt x="0" y="546575"/>
                  </a:ln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83201" cy="58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146522" y="7783499"/>
            <a:ext cx="411277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Eğitim Seti (Training Set): 651 Gün (%91.5)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Seti (Test Set): 60 Gün (%8.5)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3949" y="7242176"/>
            <a:ext cx="205638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CE170"/>
                </a:solidFill>
                <a:latin typeface="Canva Sans"/>
                <a:ea typeface="Canva Sans"/>
                <a:cs typeface="Canva Sans"/>
                <a:sym typeface="Canva Sans"/>
              </a:rPr>
              <a:t>Veri Bölümleme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4834" y="256344"/>
            <a:ext cx="17176660" cy="9774312"/>
            <a:chOff x="0" y="0"/>
            <a:chExt cx="766389" cy="436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389" cy="436110"/>
            </a:xfrm>
            <a:custGeom>
              <a:avLst/>
              <a:gdLst/>
              <a:ahLst/>
              <a:cxnLst/>
              <a:rect r="r" b="b" t="t" l="l"/>
              <a:pathLst>
                <a:path h="436110" w="766389">
                  <a:moveTo>
                    <a:pt x="45072" y="0"/>
                  </a:moveTo>
                  <a:lnTo>
                    <a:pt x="721316" y="0"/>
                  </a:lnTo>
                  <a:cubicBezTo>
                    <a:pt x="733270" y="0"/>
                    <a:pt x="744734" y="4749"/>
                    <a:pt x="753187" y="13201"/>
                  </a:cubicBezTo>
                  <a:cubicBezTo>
                    <a:pt x="761640" y="21654"/>
                    <a:pt x="766389" y="33118"/>
                    <a:pt x="766389" y="45072"/>
                  </a:cubicBezTo>
                  <a:lnTo>
                    <a:pt x="766389" y="391038"/>
                  </a:lnTo>
                  <a:cubicBezTo>
                    <a:pt x="766389" y="402992"/>
                    <a:pt x="761640" y="414456"/>
                    <a:pt x="753187" y="422909"/>
                  </a:cubicBezTo>
                  <a:cubicBezTo>
                    <a:pt x="744734" y="431362"/>
                    <a:pt x="733270" y="436110"/>
                    <a:pt x="721316" y="436110"/>
                  </a:cubicBezTo>
                  <a:lnTo>
                    <a:pt x="45072" y="436110"/>
                  </a:lnTo>
                  <a:cubicBezTo>
                    <a:pt x="33118" y="436110"/>
                    <a:pt x="21654" y="431362"/>
                    <a:pt x="13201" y="422909"/>
                  </a:cubicBezTo>
                  <a:cubicBezTo>
                    <a:pt x="4749" y="414456"/>
                    <a:pt x="0" y="402992"/>
                    <a:pt x="0" y="391038"/>
                  </a:cubicBezTo>
                  <a:lnTo>
                    <a:pt x="0" y="45072"/>
                  </a:lnTo>
                  <a:cubicBezTo>
                    <a:pt x="0" y="33118"/>
                    <a:pt x="4749" y="21654"/>
                    <a:pt x="13201" y="13201"/>
                  </a:cubicBezTo>
                  <a:cubicBezTo>
                    <a:pt x="21654" y="4749"/>
                    <a:pt x="33118" y="0"/>
                    <a:pt x="45072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6389" cy="47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4834" y="1337406"/>
            <a:ext cx="9729546" cy="5559740"/>
          </a:xfrm>
          <a:custGeom>
            <a:avLst/>
            <a:gdLst/>
            <a:ahLst/>
            <a:cxnLst/>
            <a:rect r="r" b="b" t="t" l="l"/>
            <a:pathLst>
              <a:path h="5559740" w="9729546">
                <a:moveTo>
                  <a:pt x="0" y="0"/>
                </a:moveTo>
                <a:lnTo>
                  <a:pt x="9729546" y="0"/>
                </a:lnTo>
                <a:lnTo>
                  <a:pt x="9729546" y="5559741"/>
                </a:lnTo>
                <a:lnTo>
                  <a:pt x="0" y="5559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21873" y="1337406"/>
            <a:ext cx="9237427" cy="5559740"/>
          </a:xfrm>
          <a:custGeom>
            <a:avLst/>
            <a:gdLst/>
            <a:ahLst/>
            <a:cxnLst/>
            <a:rect r="r" b="b" t="t" l="l"/>
            <a:pathLst>
              <a:path h="5559740" w="9237427">
                <a:moveTo>
                  <a:pt x="0" y="0"/>
                </a:moveTo>
                <a:lnTo>
                  <a:pt x="9237427" y="0"/>
                </a:lnTo>
                <a:lnTo>
                  <a:pt x="9237427" y="5559741"/>
                </a:lnTo>
                <a:lnTo>
                  <a:pt x="0" y="5559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33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0180" y="6763836"/>
            <a:ext cx="16607640" cy="3266820"/>
          </a:xfrm>
          <a:custGeom>
            <a:avLst/>
            <a:gdLst/>
            <a:ahLst/>
            <a:cxnLst/>
            <a:rect r="r" b="b" t="t" l="l"/>
            <a:pathLst>
              <a:path h="3266820" w="16607640">
                <a:moveTo>
                  <a:pt x="0" y="0"/>
                </a:moveTo>
                <a:lnTo>
                  <a:pt x="16607640" y="0"/>
                </a:lnTo>
                <a:lnTo>
                  <a:pt x="16607640" y="3266820"/>
                </a:lnTo>
                <a:lnTo>
                  <a:pt x="0" y="3266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3" t="-6583" r="0" b="-16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5114" y="690525"/>
            <a:ext cx="15954186" cy="64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sz="48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SARIMAX — BASELINE İSTATİSTİKSEL MODEL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8895" y="532046"/>
            <a:ext cx="17270210" cy="9222908"/>
            <a:chOff x="0" y="0"/>
            <a:chExt cx="770563" cy="41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0563" cy="411508"/>
            </a:xfrm>
            <a:custGeom>
              <a:avLst/>
              <a:gdLst/>
              <a:ahLst/>
              <a:cxnLst/>
              <a:rect r="r" b="b" t="t" l="l"/>
              <a:pathLst>
                <a:path h="411508" w="770563">
                  <a:moveTo>
                    <a:pt x="44828" y="0"/>
                  </a:moveTo>
                  <a:lnTo>
                    <a:pt x="725734" y="0"/>
                  </a:lnTo>
                  <a:cubicBezTo>
                    <a:pt x="750492" y="0"/>
                    <a:pt x="770563" y="20070"/>
                    <a:pt x="770563" y="44828"/>
                  </a:cubicBezTo>
                  <a:lnTo>
                    <a:pt x="770563" y="366680"/>
                  </a:lnTo>
                  <a:cubicBezTo>
                    <a:pt x="770563" y="391438"/>
                    <a:pt x="750492" y="411508"/>
                    <a:pt x="725734" y="411508"/>
                  </a:cubicBezTo>
                  <a:lnTo>
                    <a:pt x="44828" y="411508"/>
                  </a:lnTo>
                  <a:cubicBezTo>
                    <a:pt x="20070" y="411508"/>
                    <a:pt x="0" y="391438"/>
                    <a:pt x="0" y="366680"/>
                  </a:cubicBezTo>
                  <a:lnTo>
                    <a:pt x="0" y="44828"/>
                  </a:lnTo>
                  <a:cubicBezTo>
                    <a:pt x="0" y="20070"/>
                    <a:pt x="20070" y="0"/>
                    <a:pt x="44828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0563" cy="44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1006" y="1060614"/>
            <a:ext cx="15785089" cy="4913109"/>
          </a:xfrm>
          <a:custGeom>
            <a:avLst/>
            <a:gdLst/>
            <a:ahLst/>
            <a:cxnLst/>
            <a:rect r="r" b="b" t="t" l="l"/>
            <a:pathLst>
              <a:path h="4913109" w="15785089">
                <a:moveTo>
                  <a:pt x="0" y="0"/>
                </a:moveTo>
                <a:lnTo>
                  <a:pt x="15785089" y="0"/>
                </a:lnTo>
                <a:lnTo>
                  <a:pt x="15785089" y="4913109"/>
                </a:lnTo>
                <a:lnTo>
                  <a:pt x="0" y="4913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387175"/>
            <a:ext cx="16405929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Durağanlık (1. Dereceden Fark):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Zaman serisinin ham hali durağan olmadığından, seriyi durağan hale getirmek amacıyla 1. dereceden fark (d=1) alınmıştır. Grafiklerdeki korelasyonlar bu dönüşüm sonrasına aittir.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Otokorelasyon Fonksiyonu - ACF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7, 14, 21, 28 ve 35 gibi 7'nin katı olan gecikmelerde (lags) güven sınırlarının (mavi gölgeli alan) dışına çıkan çok güçlü ve düzenli dikey çizgiler mevcuttur. Bu durum, veride 7 günlük çok net bir haftalık mevsimsellik (seasonality) olduğunu istatistiksel olarak kanıtlar.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Kısmi Otokorelasyon Fonksiyonu - PACF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İlk birkaç gecikmede güven sınırının dışına çıkan anlamlı dikey çizgiler, modelin otoregresif (p) bileşenlerinin sınırını belirler. Özellikle mevsimsel olmayan kısım için p değerinin düşük (örneğin 1 veya 2) seçilebileceğine işaret eder.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7338" y="151581"/>
            <a:ext cx="17176660" cy="9774312"/>
            <a:chOff x="0" y="0"/>
            <a:chExt cx="766389" cy="436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389" cy="436110"/>
            </a:xfrm>
            <a:custGeom>
              <a:avLst/>
              <a:gdLst/>
              <a:ahLst/>
              <a:cxnLst/>
              <a:rect r="r" b="b" t="t" l="l"/>
              <a:pathLst>
                <a:path h="436110" w="766389">
                  <a:moveTo>
                    <a:pt x="45072" y="0"/>
                  </a:moveTo>
                  <a:lnTo>
                    <a:pt x="721316" y="0"/>
                  </a:lnTo>
                  <a:cubicBezTo>
                    <a:pt x="733270" y="0"/>
                    <a:pt x="744734" y="4749"/>
                    <a:pt x="753187" y="13201"/>
                  </a:cubicBezTo>
                  <a:cubicBezTo>
                    <a:pt x="761640" y="21654"/>
                    <a:pt x="766389" y="33118"/>
                    <a:pt x="766389" y="45072"/>
                  </a:cubicBezTo>
                  <a:lnTo>
                    <a:pt x="766389" y="391038"/>
                  </a:lnTo>
                  <a:cubicBezTo>
                    <a:pt x="766389" y="402992"/>
                    <a:pt x="761640" y="414456"/>
                    <a:pt x="753187" y="422909"/>
                  </a:cubicBezTo>
                  <a:cubicBezTo>
                    <a:pt x="744734" y="431362"/>
                    <a:pt x="733270" y="436110"/>
                    <a:pt x="721316" y="436110"/>
                  </a:cubicBezTo>
                  <a:lnTo>
                    <a:pt x="45072" y="436110"/>
                  </a:lnTo>
                  <a:cubicBezTo>
                    <a:pt x="33118" y="436110"/>
                    <a:pt x="21654" y="431362"/>
                    <a:pt x="13201" y="422909"/>
                  </a:cubicBezTo>
                  <a:cubicBezTo>
                    <a:pt x="4749" y="414456"/>
                    <a:pt x="0" y="402992"/>
                    <a:pt x="0" y="391038"/>
                  </a:cubicBezTo>
                  <a:lnTo>
                    <a:pt x="0" y="45072"/>
                  </a:lnTo>
                  <a:cubicBezTo>
                    <a:pt x="0" y="33118"/>
                    <a:pt x="4749" y="21654"/>
                    <a:pt x="13201" y="13201"/>
                  </a:cubicBezTo>
                  <a:cubicBezTo>
                    <a:pt x="21654" y="4749"/>
                    <a:pt x="33118" y="0"/>
                    <a:pt x="45072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6389" cy="47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7338" y="1740114"/>
            <a:ext cx="9232166" cy="5227548"/>
          </a:xfrm>
          <a:custGeom>
            <a:avLst/>
            <a:gdLst/>
            <a:ahLst/>
            <a:cxnLst/>
            <a:rect r="r" b="b" t="t" l="l"/>
            <a:pathLst>
              <a:path h="5227548" w="9232166">
                <a:moveTo>
                  <a:pt x="0" y="0"/>
                </a:moveTo>
                <a:lnTo>
                  <a:pt x="9232166" y="0"/>
                </a:lnTo>
                <a:lnTo>
                  <a:pt x="9232166" y="5227548"/>
                </a:lnTo>
                <a:lnTo>
                  <a:pt x="0" y="5227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5" r="-2026" b="-672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10075" y="1740114"/>
            <a:ext cx="7831532" cy="5227548"/>
          </a:xfrm>
          <a:custGeom>
            <a:avLst/>
            <a:gdLst/>
            <a:ahLst/>
            <a:cxnLst/>
            <a:rect r="r" b="b" t="t" l="l"/>
            <a:pathLst>
              <a:path h="5227548" w="7831532">
                <a:moveTo>
                  <a:pt x="0" y="0"/>
                </a:moveTo>
                <a:lnTo>
                  <a:pt x="7831532" y="0"/>
                </a:lnTo>
                <a:lnTo>
                  <a:pt x="7831532" y="5227548"/>
                </a:lnTo>
                <a:lnTo>
                  <a:pt x="0" y="5227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967662"/>
            <a:ext cx="16412907" cy="2586584"/>
          </a:xfrm>
          <a:custGeom>
            <a:avLst/>
            <a:gdLst/>
            <a:ahLst/>
            <a:cxnLst/>
            <a:rect r="r" b="b" t="t" l="l"/>
            <a:pathLst>
              <a:path h="2586584" w="16412907">
                <a:moveTo>
                  <a:pt x="0" y="0"/>
                </a:moveTo>
                <a:lnTo>
                  <a:pt x="16412907" y="0"/>
                </a:lnTo>
                <a:lnTo>
                  <a:pt x="16412907" y="2586584"/>
                </a:lnTo>
                <a:lnTo>
                  <a:pt x="0" y="25865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32" r="0" b="-433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90602" y="813772"/>
            <a:ext cx="14690132" cy="72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2"/>
              </a:lnSpc>
            </a:pPr>
            <a:r>
              <a:rPr lang="en-US" sz="54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XGBOOST — EN DÜŞÜK MAE MODELİ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259300" y="151581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6"/>
                </a:lnTo>
                <a:lnTo>
                  <a:pt x="0" y="825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4834" y="256344"/>
            <a:ext cx="17176660" cy="9774312"/>
            <a:chOff x="0" y="0"/>
            <a:chExt cx="766389" cy="436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389" cy="436110"/>
            </a:xfrm>
            <a:custGeom>
              <a:avLst/>
              <a:gdLst/>
              <a:ahLst/>
              <a:cxnLst/>
              <a:rect r="r" b="b" t="t" l="l"/>
              <a:pathLst>
                <a:path h="436110" w="766389">
                  <a:moveTo>
                    <a:pt x="45072" y="0"/>
                  </a:moveTo>
                  <a:lnTo>
                    <a:pt x="721316" y="0"/>
                  </a:lnTo>
                  <a:cubicBezTo>
                    <a:pt x="733270" y="0"/>
                    <a:pt x="744734" y="4749"/>
                    <a:pt x="753187" y="13201"/>
                  </a:cubicBezTo>
                  <a:cubicBezTo>
                    <a:pt x="761640" y="21654"/>
                    <a:pt x="766389" y="33118"/>
                    <a:pt x="766389" y="45072"/>
                  </a:cubicBezTo>
                  <a:lnTo>
                    <a:pt x="766389" y="391038"/>
                  </a:lnTo>
                  <a:cubicBezTo>
                    <a:pt x="766389" y="402992"/>
                    <a:pt x="761640" y="414456"/>
                    <a:pt x="753187" y="422909"/>
                  </a:cubicBezTo>
                  <a:cubicBezTo>
                    <a:pt x="744734" y="431362"/>
                    <a:pt x="733270" y="436110"/>
                    <a:pt x="721316" y="436110"/>
                  </a:cubicBezTo>
                  <a:lnTo>
                    <a:pt x="45072" y="436110"/>
                  </a:lnTo>
                  <a:cubicBezTo>
                    <a:pt x="33118" y="436110"/>
                    <a:pt x="21654" y="431362"/>
                    <a:pt x="13201" y="422909"/>
                  </a:cubicBezTo>
                  <a:cubicBezTo>
                    <a:pt x="4749" y="414456"/>
                    <a:pt x="0" y="402992"/>
                    <a:pt x="0" y="391038"/>
                  </a:cubicBezTo>
                  <a:lnTo>
                    <a:pt x="0" y="45072"/>
                  </a:lnTo>
                  <a:cubicBezTo>
                    <a:pt x="0" y="33118"/>
                    <a:pt x="4749" y="21654"/>
                    <a:pt x="13201" y="13201"/>
                  </a:cubicBezTo>
                  <a:cubicBezTo>
                    <a:pt x="21654" y="4749"/>
                    <a:pt x="33118" y="0"/>
                    <a:pt x="45072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6389" cy="47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0261" y="1440892"/>
            <a:ext cx="9529693" cy="8309024"/>
          </a:xfrm>
          <a:custGeom>
            <a:avLst/>
            <a:gdLst/>
            <a:ahLst/>
            <a:cxnLst/>
            <a:rect r="r" b="b" t="t" l="l"/>
            <a:pathLst>
              <a:path h="8309024" w="9529693">
                <a:moveTo>
                  <a:pt x="0" y="0"/>
                </a:moveTo>
                <a:lnTo>
                  <a:pt x="9529693" y="0"/>
                </a:lnTo>
                <a:lnTo>
                  <a:pt x="9529693" y="8309024"/>
                </a:lnTo>
                <a:lnTo>
                  <a:pt x="0" y="830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337" b="-1325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14216" y="1532590"/>
            <a:ext cx="7345084" cy="4635039"/>
          </a:xfrm>
          <a:custGeom>
            <a:avLst/>
            <a:gdLst/>
            <a:ahLst/>
            <a:cxnLst/>
            <a:rect r="r" b="b" t="t" l="l"/>
            <a:pathLst>
              <a:path h="4635039" w="7345084">
                <a:moveTo>
                  <a:pt x="0" y="0"/>
                </a:moveTo>
                <a:lnTo>
                  <a:pt x="7345084" y="0"/>
                </a:lnTo>
                <a:lnTo>
                  <a:pt x="7345084" y="4635039"/>
                </a:lnTo>
                <a:lnTo>
                  <a:pt x="0" y="4635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25" t="-8508" r="-34364" b="-714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14216" y="6259327"/>
            <a:ext cx="7345084" cy="3490588"/>
          </a:xfrm>
          <a:custGeom>
            <a:avLst/>
            <a:gdLst/>
            <a:ahLst/>
            <a:cxnLst/>
            <a:rect r="r" b="b" t="t" l="l"/>
            <a:pathLst>
              <a:path h="3490588" w="7345084">
                <a:moveTo>
                  <a:pt x="0" y="0"/>
                </a:moveTo>
                <a:lnTo>
                  <a:pt x="7345084" y="0"/>
                </a:lnTo>
                <a:lnTo>
                  <a:pt x="7345084" y="3490589"/>
                </a:lnTo>
                <a:lnTo>
                  <a:pt x="0" y="3490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179" b="-729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11758"/>
            <a:ext cx="10468838" cy="72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2"/>
              </a:lnSpc>
            </a:pPr>
            <a:r>
              <a:rPr lang="en-US" sz="54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ÇOK DEĞİŞKENLİ Bİ-LSTM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8895" y="707731"/>
            <a:ext cx="17270210" cy="9222908"/>
            <a:chOff x="0" y="0"/>
            <a:chExt cx="770563" cy="41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0563" cy="411508"/>
            </a:xfrm>
            <a:custGeom>
              <a:avLst/>
              <a:gdLst/>
              <a:ahLst/>
              <a:cxnLst/>
              <a:rect r="r" b="b" t="t" l="l"/>
              <a:pathLst>
                <a:path h="411508" w="770563">
                  <a:moveTo>
                    <a:pt x="44828" y="0"/>
                  </a:moveTo>
                  <a:lnTo>
                    <a:pt x="725734" y="0"/>
                  </a:lnTo>
                  <a:cubicBezTo>
                    <a:pt x="750492" y="0"/>
                    <a:pt x="770563" y="20070"/>
                    <a:pt x="770563" y="44828"/>
                  </a:cubicBezTo>
                  <a:lnTo>
                    <a:pt x="770563" y="366680"/>
                  </a:lnTo>
                  <a:cubicBezTo>
                    <a:pt x="770563" y="391438"/>
                    <a:pt x="750492" y="411508"/>
                    <a:pt x="725734" y="411508"/>
                  </a:cubicBezTo>
                  <a:lnTo>
                    <a:pt x="44828" y="411508"/>
                  </a:lnTo>
                  <a:cubicBezTo>
                    <a:pt x="20070" y="411508"/>
                    <a:pt x="0" y="391438"/>
                    <a:pt x="0" y="366680"/>
                  </a:cubicBezTo>
                  <a:lnTo>
                    <a:pt x="0" y="44828"/>
                  </a:lnTo>
                  <a:cubicBezTo>
                    <a:pt x="0" y="20070"/>
                    <a:pt x="20070" y="0"/>
                    <a:pt x="44828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0563" cy="44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40152" cy="6234134"/>
          </a:xfrm>
          <a:custGeom>
            <a:avLst/>
            <a:gdLst/>
            <a:ahLst/>
            <a:cxnLst/>
            <a:rect r="r" b="b" t="t" l="l"/>
            <a:pathLst>
              <a:path h="6234134" w="16140152">
                <a:moveTo>
                  <a:pt x="0" y="0"/>
                </a:moveTo>
                <a:lnTo>
                  <a:pt x="16140152" y="0"/>
                </a:lnTo>
                <a:lnTo>
                  <a:pt x="16140152" y="6234134"/>
                </a:lnTo>
                <a:lnTo>
                  <a:pt x="0" y="6234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442944"/>
            <a:ext cx="16343866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Huber Kayıp Fonksiyonu (Loss):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Modelin optimizasyonunda, aykırı değerlere (kampanya şoklarına) karşı MSE'den daha dayanıklı ve kararlı olan Huber Loss fonksiyonu tercih edilmiştir.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Kararlı Yakınsama (Convergence):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Eğitim (mavi) ve Doğrulama/Test (kırmızı) kayıp eğrileri, epoklar ilerledikçe düzenli olarak azalmış ve birbirine paralel olarak 0.00 seviyesine kusursuz yakınsamıştır.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Overfitting Kontrolü: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İki eğri arasında ayrışma (divergence) olmaması, modelin veriyi ezberlemediğini (overfitting), aksine zaman serisinin genel dinamiğini başarıyla genelleyebildiğini kanıtlamaktadır.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8626" y="437853"/>
            <a:ext cx="16690747" cy="9411294"/>
            <a:chOff x="0" y="0"/>
            <a:chExt cx="744708" cy="419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4708" cy="419913"/>
            </a:xfrm>
            <a:custGeom>
              <a:avLst/>
              <a:gdLst/>
              <a:ahLst/>
              <a:cxnLst/>
              <a:rect r="r" b="b" t="t" l="l"/>
              <a:pathLst>
                <a:path h="419913" w="744708">
                  <a:moveTo>
                    <a:pt x="46385" y="0"/>
                  </a:moveTo>
                  <a:lnTo>
                    <a:pt x="698324" y="0"/>
                  </a:lnTo>
                  <a:cubicBezTo>
                    <a:pt x="710626" y="0"/>
                    <a:pt x="722424" y="4887"/>
                    <a:pt x="731122" y="13586"/>
                  </a:cubicBezTo>
                  <a:cubicBezTo>
                    <a:pt x="739821" y="22284"/>
                    <a:pt x="744708" y="34083"/>
                    <a:pt x="744708" y="46385"/>
                  </a:cubicBezTo>
                  <a:lnTo>
                    <a:pt x="744708" y="373529"/>
                  </a:lnTo>
                  <a:cubicBezTo>
                    <a:pt x="744708" y="385831"/>
                    <a:pt x="739821" y="397629"/>
                    <a:pt x="731122" y="406328"/>
                  </a:cubicBezTo>
                  <a:cubicBezTo>
                    <a:pt x="722424" y="415026"/>
                    <a:pt x="710626" y="419913"/>
                    <a:pt x="698324" y="419913"/>
                  </a:cubicBezTo>
                  <a:lnTo>
                    <a:pt x="46385" y="419913"/>
                  </a:lnTo>
                  <a:cubicBezTo>
                    <a:pt x="34083" y="419913"/>
                    <a:pt x="22284" y="415026"/>
                    <a:pt x="13586" y="406328"/>
                  </a:cubicBezTo>
                  <a:cubicBezTo>
                    <a:pt x="4887" y="397629"/>
                    <a:pt x="0" y="385831"/>
                    <a:pt x="0" y="373529"/>
                  </a:cubicBezTo>
                  <a:lnTo>
                    <a:pt x="0" y="46385"/>
                  </a:lnTo>
                  <a:cubicBezTo>
                    <a:pt x="0" y="34083"/>
                    <a:pt x="4887" y="22284"/>
                    <a:pt x="13586" y="13586"/>
                  </a:cubicBezTo>
                  <a:cubicBezTo>
                    <a:pt x="22284" y="4887"/>
                    <a:pt x="34083" y="0"/>
                    <a:pt x="46385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4708" cy="458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0416" y="2846326"/>
            <a:ext cx="4791212" cy="2451318"/>
          </a:xfrm>
          <a:custGeom>
            <a:avLst/>
            <a:gdLst/>
            <a:ahLst/>
            <a:cxnLst/>
            <a:rect r="r" b="b" t="t" l="l"/>
            <a:pathLst>
              <a:path h="2451318" w="4791212">
                <a:moveTo>
                  <a:pt x="0" y="0"/>
                </a:moveTo>
                <a:lnTo>
                  <a:pt x="4791212" y="0"/>
                </a:lnTo>
                <a:lnTo>
                  <a:pt x="4791212" y="2451317"/>
                </a:lnTo>
                <a:lnTo>
                  <a:pt x="0" y="2451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62287" y="2846326"/>
            <a:ext cx="4791212" cy="2451318"/>
          </a:xfrm>
          <a:custGeom>
            <a:avLst/>
            <a:gdLst/>
            <a:ahLst/>
            <a:cxnLst/>
            <a:rect r="r" b="b" t="t" l="l"/>
            <a:pathLst>
              <a:path h="2451318" w="4791212">
                <a:moveTo>
                  <a:pt x="0" y="0"/>
                </a:moveTo>
                <a:lnTo>
                  <a:pt x="4791212" y="0"/>
                </a:lnTo>
                <a:lnTo>
                  <a:pt x="4791212" y="2451317"/>
                </a:lnTo>
                <a:lnTo>
                  <a:pt x="0" y="2451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89119" y="2846326"/>
            <a:ext cx="4791212" cy="2451318"/>
          </a:xfrm>
          <a:custGeom>
            <a:avLst/>
            <a:gdLst/>
            <a:ahLst/>
            <a:cxnLst/>
            <a:rect r="r" b="b" t="t" l="l"/>
            <a:pathLst>
              <a:path h="2451318" w="4791212">
                <a:moveTo>
                  <a:pt x="0" y="0"/>
                </a:moveTo>
                <a:lnTo>
                  <a:pt x="4791212" y="0"/>
                </a:lnTo>
                <a:lnTo>
                  <a:pt x="4791212" y="2451317"/>
                </a:lnTo>
                <a:lnTo>
                  <a:pt x="0" y="245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03348" y="6097109"/>
            <a:ext cx="9936397" cy="1836648"/>
          </a:xfrm>
          <a:custGeom>
            <a:avLst/>
            <a:gdLst/>
            <a:ahLst/>
            <a:cxnLst/>
            <a:rect r="r" b="b" t="t" l="l"/>
            <a:pathLst>
              <a:path h="1836648" w="9936397">
                <a:moveTo>
                  <a:pt x="0" y="0"/>
                </a:moveTo>
                <a:lnTo>
                  <a:pt x="9936397" y="0"/>
                </a:lnTo>
                <a:lnTo>
                  <a:pt x="9936397" y="1836647"/>
                </a:lnTo>
                <a:lnTo>
                  <a:pt x="0" y="1836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71743" y="711758"/>
            <a:ext cx="11599608" cy="72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2"/>
              </a:lnSpc>
            </a:pPr>
            <a:r>
              <a:rPr lang="en-US" sz="54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HİBRİT STACKiNG MİMARİSİ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23584" y="1522674"/>
            <a:ext cx="102342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XGBoost (log uzayı) + Bi-LSTM (multivariate) + Ridge Regresyon — İki Katmanlı Ensemble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0416" y="2208786"/>
            <a:ext cx="432577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EF9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KATMAN 1 — TEMEL ÖĞRENICILER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0416" y="5516718"/>
            <a:ext cx="360517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EF9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KATMAN 2 — META ÖĞRENICI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13967" y="8214702"/>
            <a:ext cx="86981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Ridge Katsayıları: w₁(XGBoost) ≈ 0.72 | w₂(Bi-LSTM) ≈ 0.28 | intercept ≈ 0.12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256322" y="8395360"/>
            <a:ext cx="18800644" cy="2871371"/>
          </a:xfrm>
          <a:custGeom>
            <a:avLst/>
            <a:gdLst/>
            <a:ahLst/>
            <a:cxnLst/>
            <a:rect r="r" b="b" t="t" l="l"/>
            <a:pathLst>
              <a:path h="2871371" w="18800644">
                <a:moveTo>
                  <a:pt x="0" y="0"/>
                </a:moveTo>
                <a:lnTo>
                  <a:pt x="18800644" y="0"/>
                </a:lnTo>
                <a:lnTo>
                  <a:pt x="18800644" y="2871371"/>
                </a:lnTo>
                <a:lnTo>
                  <a:pt x="0" y="2871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16367" y="9507844"/>
            <a:ext cx="1165526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STACKING ENSEMBLE → MAE: £5.743,18 | RMSE: £7.312,65 | R²: 0.7361 | En İyi Model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1125" y="235147"/>
            <a:ext cx="16765750" cy="9673810"/>
            <a:chOff x="0" y="0"/>
            <a:chExt cx="748055" cy="431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8055" cy="431626"/>
            </a:xfrm>
            <a:custGeom>
              <a:avLst/>
              <a:gdLst/>
              <a:ahLst/>
              <a:cxnLst/>
              <a:rect r="r" b="b" t="t" l="l"/>
              <a:pathLst>
                <a:path h="431626" w="748055">
                  <a:moveTo>
                    <a:pt x="46177" y="0"/>
                  </a:moveTo>
                  <a:lnTo>
                    <a:pt x="701878" y="0"/>
                  </a:lnTo>
                  <a:cubicBezTo>
                    <a:pt x="727380" y="0"/>
                    <a:pt x="748055" y="20674"/>
                    <a:pt x="748055" y="46177"/>
                  </a:cubicBezTo>
                  <a:lnTo>
                    <a:pt x="748055" y="385449"/>
                  </a:lnTo>
                  <a:cubicBezTo>
                    <a:pt x="748055" y="410952"/>
                    <a:pt x="727380" y="431626"/>
                    <a:pt x="701878" y="431626"/>
                  </a:cubicBezTo>
                  <a:lnTo>
                    <a:pt x="46177" y="431626"/>
                  </a:lnTo>
                  <a:cubicBezTo>
                    <a:pt x="20674" y="431626"/>
                    <a:pt x="0" y="410952"/>
                    <a:pt x="0" y="385449"/>
                  </a:cubicBezTo>
                  <a:lnTo>
                    <a:pt x="0" y="46177"/>
                  </a:lnTo>
                  <a:cubicBezTo>
                    <a:pt x="0" y="20674"/>
                    <a:pt x="20674" y="0"/>
                    <a:pt x="4617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8055" cy="469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21810" y="438466"/>
            <a:ext cx="13793683" cy="54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40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ACTUAL VS. PREDICTED — SCATTER ANALİZİ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908612" y="1028700"/>
            <a:ext cx="7334517" cy="5253348"/>
          </a:xfrm>
          <a:custGeom>
            <a:avLst/>
            <a:gdLst/>
            <a:ahLst/>
            <a:cxnLst/>
            <a:rect r="r" b="b" t="t" l="l"/>
            <a:pathLst>
              <a:path h="5253348" w="7334517">
                <a:moveTo>
                  <a:pt x="0" y="0"/>
                </a:moveTo>
                <a:lnTo>
                  <a:pt x="7334517" y="0"/>
                </a:lnTo>
                <a:lnTo>
                  <a:pt x="7334517" y="5253348"/>
                </a:lnTo>
                <a:lnTo>
                  <a:pt x="0" y="5253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272526" y="6838610"/>
            <a:ext cx="12230394" cy="1223039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F5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857540" y="6964252"/>
            <a:ext cx="3363372" cy="3457672"/>
          </a:xfrm>
          <a:custGeom>
            <a:avLst/>
            <a:gdLst/>
            <a:ahLst/>
            <a:cxnLst/>
            <a:rect r="r" b="b" t="t" l="l"/>
            <a:pathLst>
              <a:path h="3457672" w="3363372">
                <a:moveTo>
                  <a:pt x="0" y="0"/>
                </a:moveTo>
                <a:lnTo>
                  <a:pt x="3363372" y="0"/>
                </a:lnTo>
                <a:lnTo>
                  <a:pt x="3363372" y="3457672"/>
                </a:lnTo>
                <a:lnTo>
                  <a:pt x="0" y="345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09331" y="6601460"/>
            <a:ext cx="14945745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SARIMAX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Doğrusal yaklaşım nedeniyle özellikle £10k altındaki düşük ciro bölgelerinde kümelenme hatası yapmış, varyansı yakalamakta yetersiz kalmıştır.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Log-XGBoost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Karar ağacı yapısı sayesinde saçılımı (scatter) çizgi etrafında toplamayı başarmış, doğrusal olmayan dinamikleri kararlı modellemiştir.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Çok Değişkenli Bi-LSTM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Tek başına bu zaman ölçeğinde kararsız kalmış, saçılımı doğrunun oldukça uzağına yayarak varyansı açıklamakta zayıf düşmüştür.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Stacking Ensemble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Tüm baz modellerin güçlü yönlerini birleştirerek en yüksek R^2 skoruna ulaşmıştır. Noktalar mükemmel tahmin çizgisine en yakın ve kararlı dağılan modeldir.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282" y="251200"/>
            <a:ext cx="16765750" cy="9530914"/>
            <a:chOff x="0" y="0"/>
            <a:chExt cx="748055" cy="42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8055" cy="425250"/>
            </a:xfrm>
            <a:custGeom>
              <a:avLst/>
              <a:gdLst/>
              <a:ahLst/>
              <a:cxnLst/>
              <a:rect r="r" b="b" t="t" l="l"/>
              <a:pathLst>
                <a:path h="425250" w="748055">
                  <a:moveTo>
                    <a:pt x="46177" y="0"/>
                  </a:moveTo>
                  <a:lnTo>
                    <a:pt x="701878" y="0"/>
                  </a:lnTo>
                  <a:cubicBezTo>
                    <a:pt x="727380" y="0"/>
                    <a:pt x="748055" y="20674"/>
                    <a:pt x="748055" y="46177"/>
                  </a:cubicBezTo>
                  <a:lnTo>
                    <a:pt x="748055" y="379073"/>
                  </a:lnTo>
                  <a:cubicBezTo>
                    <a:pt x="748055" y="404576"/>
                    <a:pt x="727380" y="425250"/>
                    <a:pt x="701878" y="425250"/>
                  </a:cubicBezTo>
                  <a:lnTo>
                    <a:pt x="46177" y="425250"/>
                  </a:lnTo>
                  <a:cubicBezTo>
                    <a:pt x="20674" y="425250"/>
                    <a:pt x="0" y="404576"/>
                    <a:pt x="0" y="379073"/>
                  </a:cubicBezTo>
                  <a:lnTo>
                    <a:pt x="0" y="46177"/>
                  </a:lnTo>
                  <a:cubicBezTo>
                    <a:pt x="0" y="20674"/>
                    <a:pt x="20674" y="0"/>
                    <a:pt x="4617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8055" cy="46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3852" y="2007115"/>
            <a:ext cx="16326609" cy="5428598"/>
          </a:xfrm>
          <a:custGeom>
            <a:avLst/>
            <a:gdLst/>
            <a:ahLst/>
            <a:cxnLst/>
            <a:rect r="r" b="b" t="t" l="l"/>
            <a:pathLst>
              <a:path h="5428598" w="16326609">
                <a:moveTo>
                  <a:pt x="0" y="0"/>
                </a:moveTo>
                <a:lnTo>
                  <a:pt x="16326609" y="0"/>
                </a:lnTo>
                <a:lnTo>
                  <a:pt x="16326609" y="5428598"/>
                </a:lnTo>
                <a:lnTo>
                  <a:pt x="0" y="5428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19056" y="862344"/>
            <a:ext cx="13796201" cy="59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2"/>
              </a:lnSpc>
            </a:pPr>
            <a:r>
              <a:rPr lang="en-US" sz="44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PERFORMANS KARŞILAŞTIRMALARI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3196" y="7593337"/>
            <a:ext cx="14226699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 — En Düşük MAE: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£5.504 ile bireysel modeller arasında en düşük ortalama hatayı XGBoost elde etmiştir.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Bi-LSTM 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R²=0.2475 ile e-ticaret gürültüsünde tek başına yetersiz. Yüksek CV&gt;%130 saf derin öğrenmeyi zorlar.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Stacking — En Yüksek R²: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Ridge meta-öğrenicisi XGBoost'u ön plana çıkararak ve Bi-LSTM'in zaman sinyalini harmanlayarak R²=0.7361 zirvesine ulaşır.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621960" y="1388216"/>
          <a:ext cx="16230600" cy="4442059"/>
        </p:xfrm>
        <a:graphic>
          <a:graphicData uri="http://schemas.openxmlformats.org/presentationml/2006/ole">
            <p:oleObj imgW="19469100" imgH="7683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621960" y="8427879"/>
            <a:ext cx="17044080" cy="937424"/>
          </a:xfrm>
          <a:custGeom>
            <a:avLst/>
            <a:gdLst/>
            <a:ahLst/>
            <a:cxnLst/>
            <a:rect r="r" b="b" t="t" l="l"/>
            <a:pathLst>
              <a:path h="937424" w="17044080">
                <a:moveTo>
                  <a:pt x="0" y="0"/>
                </a:moveTo>
                <a:lnTo>
                  <a:pt x="17044080" y="0"/>
                </a:lnTo>
                <a:lnTo>
                  <a:pt x="17044080" y="937425"/>
                </a:lnTo>
                <a:lnTo>
                  <a:pt x="0" y="937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1960" y="487863"/>
            <a:ext cx="17173554" cy="54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40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KARŞILAŞTIRMA TABLOSU — GERÇEK SONUÇLAR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0525" y="378043"/>
            <a:ext cx="16765750" cy="9530914"/>
            <a:chOff x="0" y="0"/>
            <a:chExt cx="748055" cy="42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8055" cy="425250"/>
            </a:xfrm>
            <a:custGeom>
              <a:avLst/>
              <a:gdLst/>
              <a:ahLst/>
              <a:cxnLst/>
              <a:rect r="r" b="b" t="t" l="l"/>
              <a:pathLst>
                <a:path h="425250" w="748055">
                  <a:moveTo>
                    <a:pt x="46177" y="0"/>
                  </a:moveTo>
                  <a:lnTo>
                    <a:pt x="701878" y="0"/>
                  </a:lnTo>
                  <a:cubicBezTo>
                    <a:pt x="727380" y="0"/>
                    <a:pt x="748055" y="20674"/>
                    <a:pt x="748055" y="46177"/>
                  </a:cubicBezTo>
                  <a:lnTo>
                    <a:pt x="748055" y="379073"/>
                  </a:lnTo>
                  <a:cubicBezTo>
                    <a:pt x="748055" y="404576"/>
                    <a:pt x="727380" y="425250"/>
                    <a:pt x="701878" y="425250"/>
                  </a:cubicBezTo>
                  <a:lnTo>
                    <a:pt x="46177" y="425250"/>
                  </a:lnTo>
                  <a:cubicBezTo>
                    <a:pt x="20674" y="425250"/>
                    <a:pt x="0" y="404576"/>
                    <a:pt x="0" y="379073"/>
                  </a:cubicBezTo>
                  <a:lnTo>
                    <a:pt x="0" y="46177"/>
                  </a:lnTo>
                  <a:cubicBezTo>
                    <a:pt x="0" y="20674"/>
                    <a:pt x="20674" y="0"/>
                    <a:pt x="4617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8055" cy="46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792827"/>
            <a:ext cx="4611860" cy="4527044"/>
          </a:xfrm>
          <a:custGeom>
            <a:avLst/>
            <a:gdLst/>
            <a:ahLst/>
            <a:cxnLst/>
            <a:rect r="r" b="b" t="t" l="l"/>
            <a:pathLst>
              <a:path h="4527044" w="4611860">
                <a:moveTo>
                  <a:pt x="0" y="0"/>
                </a:moveTo>
                <a:lnTo>
                  <a:pt x="4611860" y="0"/>
                </a:lnTo>
                <a:lnTo>
                  <a:pt x="4611860" y="4527044"/>
                </a:lnTo>
                <a:lnTo>
                  <a:pt x="0" y="4527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40799" y="1620456"/>
            <a:ext cx="12029103" cy="4871787"/>
          </a:xfrm>
          <a:custGeom>
            <a:avLst/>
            <a:gdLst/>
            <a:ahLst/>
            <a:cxnLst/>
            <a:rect r="r" b="b" t="t" l="l"/>
            <a:pathLst>
              <a:path h="4871787" w="12029103">
                <a:moveTo>
                  <a:pt x="0" y="0"/>
                </a:moveTo>
                <a:lnTo>
                  <a:pt x="12029103" y="0"/>
                </a:lnTo>
                <a:lnTo>
                  <a:pt x="12029103" y="4871787"/>
                </a:lnTo>
                <a:lnTo>
                  <a:pt x="0" y="4871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8579" y="6613954"/>
            <a:ext cx="15441438" cy="2644346"/>
          </a:xfrm>
          <a:custGeom>
            <a:avLst/>
            <a:gdLst/>
            <a:ahLst/>
            <a:cxnLst/>
            <a:rect r="r" b="b" t="t" l="l"/>
            <a:pathLst>
              <a:path h="2644346" w="15441438">
                <a:moveTo>
                  <a:pt x="0" y="0"/>
                </a:moveTo>
                <a:lnTo>
                  <a:pt x="15441438" y="0"/>
                </a:lnTo>
                <a:lnTo>
                  <a:pt x="15441438" y="2644346"/>
                </a:lnTo>
                <a:lnTo>
                  <a:pt x="0" y="2644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8562" y="761457"/>
            <a:ext cx="3791417" cy="61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4542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SONUÇLAR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0525" y="378043"/>
            <a:ext cx="16765750" cy="9530914"/>
            <a:chOff x="0" y="0"/>
            <a:chExt cx="748055" cy="42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8055" cy="425250"/>
            </a:xfrm>
            <a:custGeom>
              <a:avLst/>
              <a:gdLst/>
              <a:ahLst/>
              <a:cxnLst/>
              <a:rect r="r" b="b" t="t" l="l"/>
              <a:pathLst>
                <a:path h="425250" w="748055">
                  <a:moveTo>
                    <a:pt x="46177" y="0"/>
                  </a:moveTo>
                  <a:lnTo>
                    <a:pt x="701878" y="0"/>
                  </a:lnTo>
                  <a:cubicBezTo>
                    <a:pt x="727380" y="0"/>
                    <a:pt x="748055" y="20674"/>
                    <a:pt x="748055" y="46177"/>
                  </a:cubicBezTo>
                  <a:lnTo>
                    <a:pt x="748055" y="379073"/>
                  </a:lnTo>
                  <a:cubicBezTo>
                    <a:pt x="748055" y="404576"/>
                    <a:pt x="727380" y="425250"/>
                    <a:pt x="701878" y="425250"/>
                  </a:cubicBezTo>
                  <a:lnTo>
                    <a:pt x="46177" y="425250"/>
                  </a:lnTo>
                  <a:cubicBezTo>
                    <a:pt x="20674" y="425250"/>
                    <a:pt x="0" y="404576"/>
                    <a:pt x="0" y="379073"/>
                  </a:cubicBezTo>
                  <a:lnTo>
                    <a:pt x="0" y="46177"/>
                  </a:lnTo>
                  <a:cubicBezTo>
                    <a:pt x="0" y="20674"/>
                    <a:pt x="20674" y="0"/>
                    <a:pt x="4617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8055" cy="46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2415" y="956339"/>
            <a:ext cx="14491538" cy="77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PROJENİN KATKILARI VE DEĞERİ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50212" y="2294668"/>
            <a:ext cx="7593788" cy="3409999"/>
            <a:chOff x="0" y="0"/>
            <a:chExt cx="338820" cy="1521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8820" cy="152147"/>
            </a:xfrm>
            <a:custGeom>
              <a:avLst/>
              <a:gdLst/>
              <a:ahLst/>
              <a:cxnLst/>
              <a:rect r="r" b="b" t="t" l="l"/>
              <a:pathLst>
                <a:path h="152147" w="338820">
                  <a:moveTo>
                    <a:pt x="76074" y="0"/>
                  </a:moveTo>
                  <a:lnTo>
                    <a:pt x="262746" y="0"/>
                  </a:lnTo>
                  <a:cubicBezTo>
                    <a:pt x="282922" y="0"/>
                    <a:pt x="302272" y="8015"/>
                    <a:pt x="316538" y="22281"/>
                  </a:cubicBezTo>
                  <a:cubicBezTo>
                    <a:pt x="330805" y="36548"/>
                    <a:pt x="338820" y="55898"/>
                    <a:pt x="338820" y="76074"/>
                  </a:cubicBezTo>
                  <a:lnTo>
                    <a:pt x="338820" y="76074"/>
                  </a:lnTo>
                  <a:cubicBezTo>
                    <a:pt x="338820" y="96250"/>
                    <a:pt x="330805" y="115599"/>
                    <a:pt x="316538" y="129866"/>
                  </a:cubicBezTo>
                  <a:cubicBezTo>
                    <a:pt x="302272" y="144133"/>
                    <a:pt x="282922" y="152147"/>
                    <a:pt x="262746" y="152147"/>
                  </a:cubicBezTo>
                  <a:lnTo>
                    <a:pt x="76074" y="152147"/>
                  </a:lnTo>
                  <a:cubicBezTo>
                    <a:pt x="55898" y="152147"/>
                    <a:pt x="36548" y="144133"/>
                    <a:pt x="22281" y="129866"/>
                  </a:cubicBezTo>
                  <a:cubicBezTo>
                    <a:pt x="8015" y="115599"/>
                    <a:pt x="0" y="96250"/>
                    <a:pt x="0" y="76074"/>
                  </a:cubicBezTo>
                  <a:lnTo>
                    <a:pt x="0" y="76074"/>
                  </a:lnTo>
                  <a:cubicBezTo>
                    <a:pt x="0" y="55898"/>
                    <a:pt x="8015" y="36548"/>
                    <a:pt x="22281" y="22281"/>
                  </a:cubicBezTo>
                  <a:cubicBezTo>
                    <a:pt x="36548" y="8015"/>
                    <a:pt x="55898" y="0"/>
                    <a:pt x="760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8820" cy="19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02176" y="2657210"/>
            <a:ext cx="6489860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7F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Ak</a:t>
            </a:r>
            <a:r>
              <a:rPr lang="en-US" b="true" sz="2199">
                <a:solidFill>
                  <a:srgbClr val="FF7F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ademik Katkı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SARIMAX, XGBoost ve Bi-LSTM modellerini Stacking Ensemble mimarisiyle birleştirerek hibrit tahminde özgün bir çerçeve sunulmuştur.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458736" y="2294668"/>
            <a:ext cx="7593788" cy="3409999"/>
            <a:chOff x="0" y="0"/>
            <a:chExt cx="338820" cy="152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820" cy="152147"/>
            </a:xfrm>
            <a:custGeom>
              <a:avLst/>
              <a:gdLst/>
              <a:ahLst/>
              <a:cxnLst/>
              <a:rect r="r" b="b" t="t" l="l"/>
              <a:pathLst>
                <a:path h="152147" w="338820">
                  <a:moveTo>
                    <a:pt x="76074" y="0"/>
                  </a:moveTo>
                  <a:lnTo>
                    <a:pt x="262746" y="0"/>
                  </a:lnTo>
                  <a:cubicBezTo>
                    <a:pt x="282922" y="0"/>
                    <a:pt x="302272" y="8015"/>
                    <a:pt x="316538" y="22281"/>
                  </a:cubicBezTo>
                  <a:cubicBezTo>
                    <a:pt x="330805" y="36548"/>
                    <a:pt x="338820" y="55898"/>
                    <a:pt x="338820" y="76074"/>
                  </a:cubicBezTo>
                  <a:lnTo>
                    <a:pt x="338820" y="76074"/>
                  </a:lnTo>
                  <a:cubicBezTo>
                    <a:pt x="338820" y="96250"/>
                    <a:pt x="330805" y="115599"/>
                    <a:pt x="316538" y="129866"/>
                  </a:cubicBezTo>
                  <a:cubicBezTo>
                    <a:pt x="302272" y="144133"/>
                    <a:pt x="282922" y="152147"/>
                    <a:pt x="262746" y="152147"/>
                  </a:cubicBezTo>
                  <a:lnTo>
                    <a:pt x="76074" y="152147"/>
                  </a:lnTo>
                  <a:cubicBezTo>
                    <a:pt x="55898" y="152147"/>
                    <a:pt x="36548" y="144133"/>
                    <a:pt x="22281" y="129866"/>
                  </a:cubicBezTo>
                  <a:cubicBezTo>
                    <a:pt x="8015" y="115599"/>
                    <a:pt x="0" y="96250"/>
                    <a:pt x="0" y="76074"/>
                  </a:cubicBezTo>
                  <a:lnTo>
                    <a:pt x="0" y="76074"/>
                  </a:lnTo>
                  <a:cubicBezTo>
                    <a:pt x="0" y="55898"/>
                    <a:pt x="8015" y="36548"/>
                    <a:pt x="22281" y="22281"/>
                  </a:cubicBezTo>
                  <a:cubicBezTo>
                    <a:pt x="36548" y="8015"/>
                    <a:pt x="55898" y="0"/>
                    <a:pt x="760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8820" cy="19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87784" y="2657210"/>
            <a:ext cx="7264740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7F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Ticari Değer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%86.2 volatilite altındaki A Sınıfı ürünler için kararlı bir Karar Destek Sistemi kurgulanmış, stok maliyetleri optimize edilmiştir.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456506" y="5963687"/>
            <a:ext cx="7593788" cy="3409999"/>
            <a:chOff x="0" y="0"/>
            <a:chExt cx="338820" cy="1521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8820" cy="152147"/>
            </a:xfrm>
            <a:custGeom>
              <a:avLst/>
              <a:gdLst/>
              <a:ahLst/>
              <a:cxnLst/>
              <a:rect r="r" b="b" t="t" l="l"/>
              <a:pathLst>
                <a:path h="152147" w="338820">
                  <a:moveTo>
                    <a:pt x="76074" y="0"/>
                  </a:moveTo>
                  <a:lnTo>
                    <a:pt x="262746" y="0"/>
                  </a:lnTo>
                  <a:cubicBezTo>
                    <a:pt x="282922" y="0"/>
                    <a:pt x="302272" y="8015"/>
                    <a:pt x="316538" y="22281"/>
                  </a:cubicBezTo>
                  <a:cubicBezTo>
                    <a:pt x="330805" y="36548"/>
                    <a:pt x="338820" y="55898"/>
                    <a:pt x="338820" y="76074"/>
                  </a:cubicBezTo>
                  <a:lnTo>
                    <a:pt x="338820" y="76074"/>
                  </a:lnTo>
                  <a:cubicBezTo>
                    <a:pt x="338820" y="96250"/>
                    <a:pt x="330805" y="115599"/>
                    <a:pt x="316538" y="129866"/>
                  </a:cubicBezTo>
                  <a:cubicBezTo>
                    <a:pt x="302272" y="144133"/>
                    <a:pt x="282922" y="152147"/>
                    <a:pt x="262746" y="152147"/>
                  </a:cubicBezTo>
                  <a:lnTo>
                    <a:pt x="76074" y="152147"/>
                  </a:lnTo>
                  <a:cubicBezTo>
                    <a:pt x="55898" y="152147"/>
                    <a:pt x="36548" y="144133"/>
                    <a:pt x="22281" y="129866"/>
                  </a:cubicBezTo>
                  <a:cubicBezTo>
                    <a:pt x="8015" y="115599"/>
                    <a:pt x="0" y="96250"/>
                    <a:pt x="0" y="76074"/>
                  </a:cubicBezTo>
                  <a:lnTo>
                    <a:pt x="0" y="76074"/>
                  </a:lnTo>
                  <a:cubicBezTo>
                    <a:pt x="0" y="55898"/>
                    <a:pt x="8015" y="36548"/>
                    <a:pt x="22281" y="22281"/>
                  </a:cubicBezTo>
                  <a:cubicBezTo>
                    <a:pt x="36548" y="8015"/>
                    <a:pt x="55898" y="0"/>
                    <a:pt x="760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8820" cy="19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829108" y="6486951"/>
            <a:ext cx="6848584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7F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Volalite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%86.2 gibi ekstrem bir oynaklığa (CV) sahip kaotik e-ticaret verilerinde; kampanya şoklarını ve ani talep düşüşlerini yüksek doğrulukla yakalayan bir sistem kurulmuştur.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501705" y="6666692"/>
            <a:ext cx="3101637" cy="3976458"/>
          </a:xfrm>
          <a:custGeom>
            <a:avLst/>
            <a:gdLst/>
            <a:ahLst/>
            <a:cxnLst/>
            <a:rect r="r" b="b" t="t" l="l"/>
            <a:pathLst>
              <a:path h="3976458" w="3101637">
                <a:moveTo>
                  <a:pt x="0" y="0"/>
                </a:moveTo>
                <a:lnTo>
                  <a:pt x="3101637" y="0"/>
                </a:lnTo>
                <a:lnTo>
                  <a:pt x="3101637" y="3976458"/>
                </a:lnTo>
                <a:lnTo>
                  <a:pt x="0" y="3976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884982" y="7565804"/>
            <a:ext cx="1105104" cy="1089117"/>
          </a:xfrm>
          <a:custGeom>
            <a:avLst/>
            <a:gdLst/>
            <a:ahLst/>
            <a:cxnLst/>
            <a:rect r="r" b="b" t="t" l="l"/>
            <a:pathLst>
              <a:path h="1089117" w="1105104">
                <a:moveTo>
                  <a:pt x="0" y="0"/>
                </a:moveTo>
                <a:lnTo>
                  <a:pt x="1105105" y="0"/>
                </a:lnTo>
                <a:lnTo>
                  <a:pt x="1105105" y="1089117"/>
                </a:lnTo>
                <a:lnTo>
                  <a:pt x="0" y="1089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7163310" y="4855267"/>
            <a:ext cx="1124690" cy="1108419"/>
          </a:xfrm>
          <a:custGeom>
            <a:avLst/>
            <a:gdLst/>
            <a:ahLst/>
            <a:cxnLst/>
            <a:rect r="r" b="b" t="t" l="l"/>
            <a:pathLst>
              <a:path h="1108419" w="1124690">
                <a:moveTo>
                  <a:pt x="0" y="0"/>
                </a:moveTo>
                <a:lnTo>
                  <a:pt x="1124690" y="0"/>
                </a:lnTo>
                <a:lnTo>
                  <a:pt x="1124690" y="1108420"/>
                </a:lnTo>
                <a:lnTo>
                  <a:pt x="0" y="1108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0525" y="378043"/>
            <a:ext cx="16765750" cy="9530914"/>
            <a:chOff x="0" y="0"/>
            <a:chExt cx="748055" cy="42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8055" cy="425250"/>
            </a:xfrm>
            <a:custGeom>
              <a:avLst/>
              <a:gdLst/>
              <a:ahLst/>
              <a:cxnLst/>
              <a:rect r="r" b="b" t="t" l="l"/>
              <a:pathLst>
                <a:path h="425250" w="748055">
                  <a:moveTo>
                    <a:pt x="46177" y="0"/>
                  </a:moveTo>
                  <a:lnTo>
                    <a:pt x="701878" y="0"/>
                  </a:lnTo>
                  <a:cubicBezTo>
                    <a:pt x="727380" y="0"/>
                    <a:pt x="748055" y="20674"/>
                    <a:pt x="748055" y="46177"/>
                  </a:cubicBezTo>
                  <a:lnTo>
                    <a:pt x="748055" y="379073"/>
                  </a:lnTo>
                  <a:cubicBezTo>
                    <a:pt x="748055" y="404576"/>
                    <a:pt x="727380" y="425250"/>
                    <a:pt x="701878" y="425250"/>
                  </a:cubicBezTo>
                  <a:lnTo>
                    <a:pt x="46177" y="425250"/>
                  </a:lnTo>
                  <a:cubicBezTo>
                    <a:pt x="20674" y="425250"/>
                    <a:pt x="0" y="404576"/>
                    <a:pt x="0" y="379073"/>
                  </a:cubicBezTo>
                  <a:lnTo>
                    <a:pt x="0" y="46177"/>
                  </a:lnTo>
                  <a:cubicBezTo>
                    <a:pt x="0" y="20674"/>
                    <a:pt x="20674" y="0"/>
                    <a:pt x="46177" y="0"/>
                  </a:cubicBezTo>
                  <a:close/>
                </a:path>
              </a:pathLst>
            </a:custGeom>
            <a:solidFill>
              <a:srgbClr val="E1EB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8055" cy="46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9498" y="2944256"/>
            <a:ext cx="16187803" cy="4775402"/>
          </a:xfrm>
          <a:custGeom>
            <a:avLst/>
            <a:gdLst/>
            <a:ahLst/>
            <a:cxnLst/>
            <a:rect r="r" b="b" t="t" l="l"/>
            <a:pathLst>
              <a:path h="4775402" w="16187803">
                <a:moveTo>
                  <a:pt x="0" y="0"/>
                </a:moveTo>
                <a:lnTo>
                  <a:pt x="16187803" y="0"/>
                </a:lnTo>
                <a:lnTo>
                  <a:pt x="16187803" y="4775402"/>
                </a:lnTo>
                <a:lnTo>
                  <a:pt x="0" y="4775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72415" y="956339"/>
            <a:ext cx="14491538" cy="77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7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GELECEK HEDEFLER VE KATKILAR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126493" y="235147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09512" y="-1346526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32818" y="3149037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06386" y="-1346526"/>
            <a:ext cx="8991126" cy="89911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16230600" cy="6304430"/>
            <a:chOff x="0" y="0"/>
            <a:chExt cx="3138035" cy="1218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917" y="0"/>
              <a:ext cx="3132200" cy="1218903"/>
            </a:xfrm>
            <a:custGeom>
              <a:avLst/>
              <a:gdLst/>
              <a:ahLst/>
              <a:cxnLst/>
              <a:rect r="r" b="b" t="t" l="l"/>
              <a:pathLst>
                <a:path h="1218903" w="3132200">
                  <a:moveTo>
                    <a:pt x="219363" y="1218903"/>
                  </a:moveTo>
                  <a:lnTo>
                    <a:pt x="2912838" y="1218903"/>
                  </a:lnTo>
                  <a:cubicBezTo>
                    <a:pt x="2923848" y="1218903"/>
                    <a:pt x="2933245" y="1210943"/>
                    <a:pt x="2935055" y="1200083"/>
                  </a:cubicBezTo>
                  <a:lnTo>
                    <a:pt x="3131980" y="18820"/>
                  </a:lnTo>
                  <a:cubicBezTo>
                    <a:pt x="3132762" y="14134"/>
                    <a:pt x="3131441" y="9341"/>
                    <a:pt x="3128370" y="5716"/>
                  </a:cubicBezTo>
                  <a:cubicBezTo>
                    <a:pt x="3125300" y="2090"/>
                    <a:pt x="3120789" y="0"/>
                    <a:pt x="3116038" y="0"/>
                  </a:cubicBezTo>
                  <a:lnTo>
                    <a:pt x="16163" y="0"/>
                  </a:lnTo>
                  <a:cubicBezTo>
                    <a:pt x="11412" y="0"/>
                    <a:pt x="6901" y="2090"/>
                    <a:pt x="3830" y="5716"/>
                  </a:cubicBezTo>
                  <a:cubicBezTo>
                    <a:pt x="759" y="9341"/>
                    <a:pt x="-561" y="14134"/>
                    <a:pt x="220" y="18820"/>
                  </a:cubicBezTo>
                  <a:lnTo>
                    <a:pt x="197146" y="1200083"/>
                  </a:lnTo>
                  <a:cubicBezTo>
                    <a:pt x="198956" y="1210943"/>
                    <a:pt x="208353" y="1218903"/>
                    <a:pt x="219363" y="1218903"/>
                  </a:cubicBezTo>
                  <a:close/>
                </a:path>
              </a:pathLst>
            </a:custGeom>
            <a:solidFill>
              <a:srgbClr val="E1EB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38100"/>
              <a:ext cx="2884035" cy="125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3781600"/>
            <a:ext cx="6622293" cy="4948659"/>
          </a:xfrm>
          <a:custGeom>
            <a:avLst/>
            <a:gdLst/>
            <a:ahLst/>
            <a:cxnLst/>
            <a:rect r="r" b="b" t="t" l="l"/>
            <a:pathLst>
              <a:path h="4948659" w="6622293">
                <a:moveTo>
                  <a:pt x="0" y="0"/>
                </a:moveTo>
                <a:lnTo>
                  <a:pt x="6622293" y="0"/>
                </a:lnTo>
                <a:lnTo>
                  <a:pt x="6622293" y="4948659"/>
                </a:lnTo>
                <a:lnTo>
                  <a:pt x="0" y="49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911518" y="1490926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2607425">
            <a:off x="4771735" y="2267760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7"/>
                </a:lnTo>
                <a:lnTo>
                  <a:pt x="0" y="2594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6027066" y="2355344"/>
            <a:ext cx="9569098" cy="120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TEŞEKKÜRLER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07868" y="5703480"/>
            <a:ext cx="723215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i="true">
                <a:solidFill>
                  <a:srgbClr val="26262F"/>
                </a:solidFill>
                <a:latin typeface="Garet Italics"/>
                <a:ea typeface="Garet Italics"/>
                <a:cs typeface="Garet Italics"/>
                <a:sym typeface="Garet Italics"/>
              </a:rPr>
              <a:t>EDANUR DEMİREL</a:t>
            </a:r>
          </a:p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7238611">
            <a:off x="15289832" y="1577304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5596165" y="4043915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5"/>
                </a:lnTo>
                <a:lnTo>
                  <a:pt x="0" y="766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59300" y="203233"/>
            <a:ext cx="825467" cy="825467"/>
          </a:xfrm>
          <a:custGeom>
            <a:avLst/>
            <a:gdLst/>
            <a:ahLst/>
            <a:cxnLst/>
            <a:rect r="r" b="b" t="t" l="l"/>
            <a:pathLst>
              <a:path h="825467" w="825467">
                <a:moveTo>
                  <a:pt x="0" y="0"/>
                </a:moveTo>
                <a:lnTo>
                  <a:pt x="825467" y="0"/>
                </a:lnTo>
                <a:lnTo>
                  <a:pt x="825467" y="825467"/>
                </a:lnTo>
                <a:lnTo>
                  <a:pt x="0" y="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DAHJw7q3Jic</dc:identifier>
  <dcterms:modified xsi:type="dcterms:W3CDTF">2011-08-01T06:04:30Z</dcterms:modified>
  <cp:revision>1</cp:revision>
  <dc:title>Teal Orange Yellow And White Illustrative E-Commerce Trends Presentation</dc:title>
</cp:coreProperties>
</file>