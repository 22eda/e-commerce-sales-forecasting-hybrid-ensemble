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5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6.xml" ContentType="application/vnd.openxmlformats-officedocument.drawingml.chart+xml"/>
  <Override PartName="/ppt/notesSlides/notesSlide16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67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al__ma_Sayfas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al__ma_Sayfas_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al__ma_Sayfas_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al__ma_Sayfas_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al__ma_Sayfas_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al__ma_Sayfas_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al__ma_Sayfas_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al__ma_Sayfas_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al__ma_Sayfas_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al__ma_Sayfas_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al__ma_Sayfas_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al__ma_Sayfas_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D1B2A"/>
                </a:solidFill>
                <a:latin typeface="Arial"/>
              </a:rPr>
              <a:t>Aylık Toplam Ciro Trendi (2009–2011)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Aylık Ciro (£)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cat>
            <c:strRef>
              <c:f>Sheet1!$A$2:$A$25</c:f>
              <c:strCache>
                <c:ptCount val="24"/>
                <c:pt idx="0">
                  <c:v>Ara'09</c:v>
                </c:pt>
                <c:pt idx="1">
                  <c:v>Oca'10</c:v>
                </c:pt>
                <c:pt idx="2">
                  <c:v>Şub'10</c:v>
                </c:pt>
                <c:pt idx="3">
                  <c:v>Mar'10</c:v>
                </c:pt>
                <c:pt idx="4">
                  <c:v>Nis'10</c:v>
                </c:pt>
                <c:pt idx="5">
                  <c:v>May'10</c:v>
                </c:pt>
                <c:pt idx="6">
                  <c:v>Haz'10</c:v>
                </c:pt>
                <c:pt idx="7">
                  <c:v>Tem'10</c:v>
                </c:pt>
                <c:pt idx="8">
                  <c:v>Ağu'10</c:v>
                </c:pt>
                <c:pt idx="9">
                  <c:v>Eyl'10</c:v>
                </c:pt>
                <c:pt idx="10">
                  <c:v>Eki'10</c:v>
                </c:pt>
                <c:pt idx="11">
                  <c:v>Kas'10</c:v>
                </c:pt>
                <c:pt idx="12">
                  <c:v>Ara'10</c:v>
                </c:pt>
                <c:pt idx="13">
                  <c:v>Oca'11</c:v>
                </c:pt>
                <c:pt idx="14">
                  <c:v>Şub'11</c:v>
                </c:pt>
                <c:pt idx="15">
                  <c:v>Mar'11</c:v>
                </c:pt>
                <c:pt idx="16">
                  <c:v>Nis'11</c:v>
                </c:pt>
                <c:pt idx="17">
                  <c:v>May'11</c:v>
                </c:pt>
                <c:pt idx="18">
                  <c:v>Haz'11</c:v>
                </c:pt>
                <c:pt idx="19">
                  <c:v>Tem'11</c:v>
                </c:pt>
                <c:pt idx="20">
                  <c:v>Ağu'11</c:v>
                </c:pt>
                <c:pt idx="21">
                  <c:v>Eyl'11</c:v>
                </c:pt>
                <c:pt idx="22">
                  <c:v>Eki'11</c:v>
                </c:pt>
                <c:pt idx="23">
                  <c:v>Kas'11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48000</c:v>
                </c:pt>
                <c:pt idx="1">
                  <c:v>52000</c:v>
                </c:pt>
                <c:pt idx="2">
                  <c:v>44000</c:v>
                </c:pt>
                <c:pt idx="3">
                  <c:v>58000</c:v>
                </c:pt>
                <c:pt idx="4">
                  <c:v>51000</c:v>
                </c:pt>
                <c:pt idx="5">
                  <c:v>63000</c:v>
                </c:pt>
                <c:pt idx="6">
                  <c:v>59000</c:v>
                </c:pt>
                <c:pt idx="7">
                  <c:v>55000</c:v>
                </c:pt>
                <c:pt idx="8">
                  <c:v>48000</c:v>
                </c:pt>
                <c:pt idx="9">
                  <c:v>72000</c:v>
                </c:pt>
                <c:pt idx="10">
                  <c:v>85000</c:v>
                </c:pt>
                <c:pt idx="11">
                  <c:v>98000</c:v>
                </c:pt>
                <c:pt idx="12">
                  <c:v>110000</c:v>
                </c:pt>
                <c:pt idx="13">
                  <c:v>45000</c:v>
                </c:pt>
                <c:pt idx="14">
                  <c:v>50000</c:v>
                </c:pt>
                <c:pt idx="15">
                  <c:v>67000</c:v>
                </c:pt>
                <c:pt idx="16">
                  <c:v>63000</c:v>
                </c:pt>
                <c:pt idx="17">
                  <c:v>72000</c:v>
                </c:pt>
                <c:pt idx="18">
                  <c:v>70000</c:v>
                </c:pt>
                <c:pt idx="19">
                  <c:v>68000</c:v>
                </c:pt>
                <c:pt idx="20">
                  <c:v>65000</c:v>
                </c:pt>
                <c:pt idx="21">
                  <c:v>88000</c:v>
                </c:pt>
                <c:pt idx="22">
                  <c:v>105000</c:v>
                </c:pt>
                <c:pt idx="23">
                  <c:v>125000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31-473B-9FFA-E973E2DF04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0A4AE"/>
                </a:solidFill>
                <a:latin typeface="Arial"/>
              </a:defRPr>
            </a:pPr>
            <a:endParaRPr lang="tr-T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A4AE"/>
                </a:solidFill>
                <a:latin typeface="Arial"/>
              </a:defRPr>
            </a:pPr>
            <a:endParaRPr lang="tr-T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EEF5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Ciro Payı (%)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2B0-4A47-BD57-E410F69801EA}"/>
              </c:ext>
            </c:extLst>
          </c:dPt>
          <c:dPt>
            <c:idx val="1"/>
            <c:bubble3D val="0"/>
            <c:spPr>
              <a:solidFill>
                <a:srgbClr val="0097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2B0-4A47-BD57-E410F69801EA}"/>
              </c:ext>
            </c:extLst>
          </c:dPt>
          <c:dPt>
            <c:idx val="2"/>
            <c:bubble3D val="0"/>
            <c:spPr>
              <a:solidFill>
                <a:srgbClr val="90A4A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2B0-4A47-BD57-E410F69801E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2B0-4A47-BD57-E410F69801E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2B0-4A47-BD57-E410F69801EA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2B0-4A47-BD57-E410F69801E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A Sınıfı — %80 Ciro</c:v>
                </c:pt>
                <c:pt idx="1">
                  <c:v>B Sınıfı — %15 Ciro</c:v>
                </c:pt>
                <c:pt idx="2">
                  <c:v>C Sınıfı — %5 Ciro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</c:v>
                </c:pt>
                <c:pt idx="1">
                  <c:v>15</c:v>
                </c:pt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2B0-4A47-BD57-E410F69801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tr-TR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D1B2A"/>
                </a:solidFill>
                <a:latin typeface="Arial"/>
              </a:rPr>
              <a:t>Ham Ciro — Sağa Çarpık (Skewed)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Frekans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0-5k</c:v>
                </c:pt>
                <c:pt idx="1">
                  <c:v>5-15k</c:v>
                </c:pt>
                <c:pt idx="2">
                  <c:v>15-30k</c:v>
                </c:pt>
                <c:pt idx="3">
                  <c:v>30-60k</c:v>
                </c:pt>
                <c:pt idx="4">
                  <c:v>60-100k</c:v>
                </c:pt>
                <c:pt idx="5">
                  <c:v>100k+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180</c:v>
                </c:pt>
                <c:pt idx="1">
                  <c:v>90</c:v>
                </c:pt>
                <c:pt idx="2">
                  <c:v>45</c:v>
                </c:pt>
                <c:pt idx="3">
                  <c:v>18</c:v>
                </c:pt>
                <c:pt idx="4">
                  <c:v>7</c:v>
                </c:pt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1A-400F-A69B-F011F259E8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A64"/>
                </a:solidFill>
                <a:latin typeface="Arial"/>
              </a:defRPr>
            </a:pPr>
            <a:endParaRPr lang="tr-T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A64"/>
                </a:solidFill>
                <a:latin typeface="Arial"/>
              </a:defRPr>
            </a:pPr>
            <a:endParaRPr lang="tr-T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EEF5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D1B2A"/>
                </a:solidFill>
                <a:latin typeface="Arial"/>
              </a:rPr>
              <a:t>np.log1p() Sonrası — Normal Dağılıma Yakınsama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Frekans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6-7</c:v>
                </c:pt>
                <c:pt idx="1">
                  <c:v>7-8</c:v>
                </c:pt>
                <c:pt idx="2">
                  <c:v>8-9</c:v>
                </c:pt>
                <c:pt idx="3">
                  <c:v>9-10</c:v>
                </c:pt>
                <c:pt idx="4">
                  <c:v>10-11</c:v>
                </c:pt>
                <c:pt idx="5">
                  <c:v>11-12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</c:v>
                </c:pt>
                <c:pt idx="1">
                  <c:v>42</c:v>
                </c:pt>
                <c:pt idx="2">
                  <c:v>88</c:v>
                </c:pt>
                <c:pt idx="3">
                  <c:v>82</c:v>
                </c:pt>
                <c:pt idx="4">
                  <c:v>45</c:v>
                </c:pt>
                <c:pt idx="5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B7-408B-B19C-2C3AC5B14E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A64"/>
                </a:solidFill>
                <a:latin typeface="Arial"/>
              </a:defRPr>
            </a:pPr>
            <a:endParaRPr lang="tr-T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A64"/>
                </a:solidFill>
                <a:latin typeface="Arial"/>
              </a:defRPr>
            </a:pPr>
            <a:endParaRPr lang="tr-T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EEF5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tr-TR" sz="1100" b="0" i="0" u="none" strike="noStrike">
                <a:solidFill>
                  <a:srgbClr val="0D1B2A"/>
                </a:solidFill>
                <a:latin typeface="Arial"/>
              </a:rPr>
              <a:t>Top 10 Özellik Önemi (XGBoost)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Önem Skoru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AA0-4571-B4D7-3F67E1B65CA6}"/>
              </c:ext>
            </c:extLst>
          </c:dPt>
          <c:dPt>
            <c:idx val="1"/>
            <c:invertIfNegative val="0"/>
            <c:bubble3D val="0"/>
            <c:spPr>
              <a:solidFill>
                <a:srgbClr val="1976D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AA0-4571-B4D7-3F67E1B65CA6}"/>
              </c:ext>
            </c:extLst>
          </c:dPt>
          <c:dPt>
            <c:idx val="2"/>
            <c:invertIfNegative val="0"/>
            <c:bubble3D val="0"/>
            <c:spPr>
              <a:solidFill>
                <a:srgbClr val="2196F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AA0-4571-B4D7-3F67E1B65CA6}"/>
              </c:ext>
            </c:extLst>
          </c:dPt>
          <c:dPt>
            <c:idx val="3"/>
            <c:invertIfNegative val="0"/>
            <c:bubble3D val="0"/>
            <c:spPr>
              <a:solidFill>
                <a:srgbClr val="42A5F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AA0-4571-B4D7-3F67E1B65CA6}"/>
              </c:ext>
            </c:extLst>
          </c:dPt>
          <c:dPt>
            <c:idx val="4"/>
            <c:invertIfNegative val="0"/>
            <c:bubble3D val="0"/>
            <c:spPr>
              <a:solidFill>
                <a:srgbClr val="64B5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AA0-4571-B4D7-3F67E1B65CA6}"/>
              </c:ext>
            </c:extLst>
          </c:dPt>
          <c:dPt>
            <c:idx val="5"/>
            <c:invertIfNegative val="0"/>
            <c:bubble3D val="0"/>
            <c:spPr>
              <a:solidFill>
                <a:srgbClr val="90CAF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AA0-4571-B4D7-3F67E1B65CA6}"/>
              </c:ext>
            </c:extLst>
          </c:dPt>
          <c:dPt>
            <c:idx val="6"/>
            <c:invertIfNegative val="0"/>
            <c:bubble3D val="0"/>
            <c:spPr>
              <a:solidFill>
                <a:srgbClr val="BBDEF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5AA0-4571-B4D7-3F67E1B65CA6}"/>
              </c:ext>
            </c:extLst>
          </c:dPt>
          <c:dPt>
            <c:idx val="7"/>
            <c:invertIfNegative val="0"/>
            <c:bubble3D val="0"/>
            <c:spPr>
              <a:solidFill>
                <a:srgbClr val="DCEEF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5AA0-4571-B4D7-3F67E1B65CA6}"/>
              </c:ext>
            </c:extLst>
          </c:dPt>
          <c:dPt>
            <c:idx val="8"/>
            <c:invertIfNegative val="0"/>
            <c:bubble3D val="0"/>
            <c:spPr>
              <a:solidFill>
                <a:srgbClr val="E8F4F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5AA0-4571-B4D7-3F67E1B65CA6}"/>
              </c:ext>
            </c:extLst>
          </c:dPt>
          <c:dPt>
            <c:idx val="9"/>
            <c:invertIfNegative val="0"/>
            <c:bubble3D val="0"/>
            <c:spPr>
              <a:solidFill>
                <a:srgbClr val="F0F8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5AA0-4571-B4D7-3F67E1B65CA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lag_7</c:v>
                </c:pt>
                <c:pt idx="1">
                  <c:v>lag_14</c:v>
                </c:pt>
                <c:pt idx="2">
                  <c:v>rolling_mean_7</c:v>
                </c:pt>
                <c:pt idx="3">
                  <c:v>lag_28</c:v>
                </c:pt>
                <c:pt idx="4">
                  <c:v>ema_7</c:v>
                </c:pt>
                <c:pt idx="5">
                  <c:v>rolling_mean_14</c:v>
                </c:pt>
                <c:pt idx="6">
                  <c:v>fourier_sin_7</c:v>
                </c:pt>
                <c:pt idx="7">
                  <c:v>momentum_7</c:v>
                </c:pt>
                <c:pt idx="8">
                  <c:v>rolling_std_7</c:v>
                </c:pt>
                <c:pt idx="9">
                  <c:v>fourier_cos_7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0.14199999999999999</c:v>
                </c:pt>
                <c:pt idx="1">
                  <c:v>0.11799999999999999</c:v>
                </c:pt>
                <c:pt idx="2">
                  <c:v>9.5000000000000001E-2</c:v>
                </c:pt>
                <c:pt idx="3">
                  <c:v>8.7999999999999995E-2</c:v>
                </c:pt>
                <c:pt idx="4">
                  <c:v>7.1999999999999995E-2</c:v>
                </c:pt>
                <c:pt idx="5">
                  <c:v>6.5000000000000002E-2</c:v>
                </c:pt>
                <c:pt idx="6">
                  <c:v>5.8000000000000003E-2</c:v>
                </c:pt>
                <c:pt idx="7">
                  <c:v>5.0999999999999997E-2</c:v>
                </c:pt>
                <c:pt idx="8">
                  <c:v>4.3999999999999997E-2</c:v>
                </c:pt>
                <c:pt idx="9">
                  <c:v>3.7999999999999999E-2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5AA0-4571-B4D7-3F67E1B65CA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55A64"/>
                </a:solidFill>
                <a:latin typeface="Arial"/>
              </a:defRPr>
            </a:pPr>
            <a:endParaRPr lang="tr-T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A64"/>
                </a:solidFill>
                <a:latin typeface="Arial"/>
              </a:defRPr>
            </a:pPr>
            <a:endParaRPr lang="tr-T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EEF5FC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Gerçek Ciro (£)</c:v>
                </c:pt>
              </c:strCache>
            </c:strRef>
          </c:tx>
          <c:spPr>
            <a:ln w="27940" cap="flat">
              <a:solidFill>
                <a:srgbClr val="0D1B2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1B2A"/>
              </a:solidFill>
              <a:ln w="9525" cap="flat">
                <a:solidFill>
                  <a:srgbClr val="0D1B2A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G1</c:v>
                </c:pt>
                <c:pt idx="1">
                  <c:v>G3</c:v>
                </c:pt>
                <c:pt idx="2">
                  <c:v>G5</c:v>
                </c:pt>
                <c:pt idx="3">
                  <c:v>G7</c:v>
                </c:pt>
                <c:pt idx="4">
                  <c:v>G9</c:v>
                </c:pt>
                <c:pt idx="5">
                  <c:v>G11</c:v>
                </c:pt>
                <c:pt idx="6">
                  <c:v>G13</c:v>
                </c:pt>
                <c:pt idx="7">
                  <c:v>G15</c:v>
                </c:pt>
                <c:pt idx="8">
                  <c:v>G17</c:v>
                </c:pt>
                <c:pt idx="9">
                  <c:v>G19</c:v>
                </c:pt>
                <c:pt idx="10">
                  <c:v>G21</c:v>
                </c:pt>
                <c:pt idx="11">
                  <c:v>G23</c:v>
                </c:pt>
                <c:pt idx="12">
                  <c:v>G25</c:v>
                </c:pt>
                <c:pt idx="13">
                  <c:v>G27</c:v>
                </c:pt>
                <c:pt idx="14">
                  <c:v>G29</c:v>
                </c:pt>
                <c:pt idx="15">
                  <c:v>G31</c:v>
                </c:pt>
                <c:pt idx="16">
                  <c:v>G33</c:v>
                </c:pt>
                <c:pt idx="17">
                  <c:v>G35</c:v>
                </c:pt>
                <c:pt idx="18">
                  <c:v>G37</c:v>
                </c:pt>
                <c:pt idx="19">
                  <c:v>G39</c:v>
                </c:pt>
                <c:pt idx="20">
                  <c:v>G41</c:v>
                </c:pt>
                <c:pt idx="21">
                  <c:v>G43</c:v>
                </c:pt>
                <c:pt idx="22">
                  <c:v>G45</c:v>
                </c:pt>
                <c:pt idx="23">
                  <c:v>G47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51000</c:v>
                </c:pt>
                <c:pt idx="1">
                  <c:v>47000</c:v>
                </c:pt>
                <c:pt idx="2">
                  <c:v>62000</c:v>
                </c:pt>
                <c:pt idx="3">
                  <c:v>68000</c:v>
                </c:pt>
                <c:pt idx="4">
                  <c:v>115000</c:v>
                </c:pt>
                <c:pt idx="5">
                  <c:v>112000</c:v>
                </c:pt>
                <c:pt idx="6">
                  <c:v>88000</c:v>
                </c:pt>
                <c:pt idx="7">
                  <c:v>73000</c:v>
                </c:pt>
                <c:pt idx="8">
                  <c:v>66000</c:v>
                </c:pt>
                <c:pt idx="9">
                  <c:v>78000</c:v>
                </c:pt>
                <c:pt idx="10">
                  <c:v>92000</c:v>
                </c:pt>
                <c:pt idx="11">
                  <c:v>108000</c:v>
                </c:pt>
                <c:pt idx="12">
                  <c:v>79000</c:v>
                </c:pt>
                <c:pt idx="13">
                  <c:v>70000</c:v>
                </c:pt>
                <c:pt idx="14">
                  <c:v>84000</c:v>
                </c:pt>
                <c:pt idx="15">
                  <c:v>128000</c:v>
                </c:pt>
                <c:pt idx="16">
                  <c:v>124000</c:v>
                </c:pt>
                <c:pt idx="17">
                  <c:v>97000</c:v>
                </c:pt>
                <c:pt idx="18">
                  <c:v>88000</c:v>
                </c:pt>
                <c:pt idx="19">
                  <c:v>95000</c:v>
                </c:pt>
                <c:pt idx="20">
                  <c:v>102000</c:v>
                </c:pt>
                <c:pt idx="21">
                  <c:v>87000</c:v>
                </c:pt>
                <c:pt idx="22">
                  <c:v>75000</c:v>
                </c:pt>
                <c:pt idx="23">
                  <c:v>91000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BDD-45E9-B63D-5A764C321A7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Stacking Ensemble</c:v>
                </c:pt>
              </c:strCache>
            </c:strRef>
          </c:tx>
          <c:spPr>
            <a:ln w="27940" cap="flat">
              <a:solidFill>
                <a:srgbClr val="F9A82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9A825"/>
              </a:solidFill>
              <a:ln w="9525" cap="flat">
                <a:solidFill>
                  <a:srgbClr val="F9A825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G1</c:v>
                </c:pt>
                <c:pt idx="1">
                  <c:v>G3</c:v>
                </c:pt>
                <c:pt idx="2">
                  <c:v>G5</c:v>
                </c:pt>
                <c:pt idx="3">
                  <c:v>G7</c:v>
                </c:pt>
                <c:pt idx="4">
                  <c:v>G9</c:v>
                </c:pt>
                <c:pt idx="5">
                  <c:v>G11</c:v>
                </c:pt>
                <c:pt idx="6">
                  <c:v>G13</c:v>
                </c:pt>
                <c:pt idx="7">
                  <c:v>G15</c:v>
                </c:pt>
                <c:pt idx="8">
                  <c:v>G17</c:v>
                </c:pt>
                <c:pt idx="9">
                  <c:v>G19</c:v>
                </c:pt>
                <c:pt idx="10">
                  <c:v>G21</c:v>
                </c:pt>
                <c:pt idx="11">
                  <c:v>G23</c:v>
                </c:pt>
                <c:pt idx="12">
                  <c:v>G25</c:v>
                </c:pt>
                <c:pt idx="13">
                  <c:v>G27</c:v>
                </c:pt>
                <c:pt idx="14">
                  <c:v>G29</c:v>
                </c:pt>
                <c:pt idx="15">
                  <c:v>G31</c:v>
                </c:pt>
                <c:pt idx="16">
                  <c:v>G33</c:v>
                </c:pt>
                <c:pt idx="17">
                  <c:v>G35</c:v>
                </c:pt>
                <c:pt idx="18">
                  <c:v>G37</c:v>
                </c:pt>
                <c:pt idx="19">
                  <c:v>G39</c:v>
                </c:pt>
                <c:pt idx="20">
                  <c:v>G41</c:v>
                </c:pt>
                <c:pt idx="21">
                  <c:v>G43</c:v>
                </c:pt>
                <c:pt idx="22">
                  <c:v>G45</c:v>
                </c:pt>
                <c:pt idx="23">
                  <c:v>G47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49000</c:v>
                </c:pt>
                <c:pt idx="1">
                  <c:v>45000</c:v>
                </c:pt>
                <c:pt idx="2">
                  <c:v>60000</c:v>
                </c:pt>
                <c:pt idx="3">
                  <c:v>70000</c:v>
                </c:pt>
                <c:pt idx="4">
                  <c:v>112000</c:v>
                </c:pt>
                <c:pt idx="5">
                  <c:v>116000</c:v>
                </c:pt>
                <c:pt idx="6">
                  <c:v>85000</c:v>
                </c:pt>
                <c:pt idx="7">
                  <c:v>71000</c:v>
                </c:pt>
                <c:pt idx="8">
                  <c:v>67000</c:v>
                </c:pt>
                <c:pt idx="9">
                  <c:v>76000</c:v>
                </c:pt>
                <c:pt idx="10">
                  <c:v>89000</c:v>
                </c:pt>
                <c:pt idx="11">
                  <c:v>111000</c:v>
                </c:pt>
                <c:pt idx="12">
                  <c:v>81000</c:v>
                </c:pt>
                <c:pt idx="13">
                  <c:v>71000</c:v>
                </c:pt>
                <c:pt idx="14">
                  <c:v>82000</c:v>
                </c:pt>
                <c:pt idx="15">
                  <c:v>124000</c:v>
                </c:pt>
                <c:pt idx="16">
                  <c:v>128000</c:v>
                </c:pt>
                <c:pt idx="17">
                  <c:v>100000</c:v>
                </c:pt>
                <c:pt idx="18">
                  <c:v>90000</c:v>
                </c:pt>
                <c:pt idx="19">
                  <c:v>93000</c:v>
                </c:pt>
                <c:pt idx="20">
                  <c:v>99000</c:v>
                </c:pt>
                <c:pt idx="21">
                  <c:v>90000</c:v>
                </c:pt>
                <c:pt idx="22">
                  <c:v>77000</c:v>
                </c:pt>
                <c:pt idx="23">
                  <c:v>89000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BDD-45E9-B63D-5A764C321A7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XGBoost</c:v>
                </c:pt>
              </c:strCache>
            </c:strRef>
          </c:tx>
          <c:spPr>
            <a:ln w="27940" cap="flat">
              <a:solidFill>
                <a:srgbClr val="1565C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565C0"/>
              </a:solidFill>
              <a:ln w="9525" cap="flat">
                <a:solidFill>
                  <a:srgbClr val="1565C0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G1</c:v>
                </c:pt>
                <c:pt idx="1">
                  <c:v>G3</c:v>
                </c:pt>
                <c:pt idx="2">
                  <c:v>G5</c:v>
                </c:pt>
                <c:pt idx="3">
                  <c:v>G7</c:v>
                </c:pt>
                <c:pt idx="4">
                  <c:v>G9</c:v>
                </c:pt>
                <c:pt idx="5">
                  <c:v>G11</c:v>
                </c:pt>
                <c:pt idx="6">
                  <c:v>G13</c:v>
                </c:pt>
                <c:pt idx="7">
                  <c:v>G15</c:v>
                </c:pt>
                <c:pt idx="8">
                  <c:v>G17</c:v>
                </c:pt>
                <c:pt idx="9">
                  <c:v>G19</c:v>
                </c:pt>
                <c:pt idx="10">
                  <c:v>G21</c:v>
                </c:pt>
                <c:pt idx="11">
                  <c:v>G23</c:v>
                </c:pt>
                <c:pt idx="12">
                  <c:v>G25</c:v>
                </c:pt>
                <c:pt idx="13">
                  <c:v>G27</c:v>
                </c:pt>
                <c:pt idx="14">
                  <c:v>G29</c:v>
                </c:pt>
                <c:pt idx="15">
                  <c:v>G31</c:v>
                </c:pt>
                <c:pt idx="16">
                  <c:v>G33</c:v>
                </c:pt>
                <c:pt idx="17">
                  <c:v>G35</c:v>
                </c:pt>
                <c:pt idx="18">
                  <c:v>G37</c:v>
                </c:pt>
                <c:pt idx="19">
                  <c:v>G39</c:v>
                </c:pt>
                <c:pt idx="20">
                  <c:v>G41</c:v>
                </c:pt>
                <c:pt idx="21">
                  <c:v>G43</c:v>
                </c:pt>
                <c:pt idx="22">
                  <c:v>G45</c:v>
                </c:pt>
                <c:pt idx="23">
                  <c:v>G47</c:v>
                </c:pt>
              </c:strCache>
            </c: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48000</c:v>
                </c:pt>
                <c:pt idx="1">
                  <c:v>46000</c:v>
                </c:pt>
                <c:pt idx="2">
                  <c:v>61000</c:v>
                </c:pt>
                <c:pt idx="3">
                  <c:v>69000</c:v>
                </c:pt>
                <c:pt idx="4">
                  <c:v>110000</c:v>
                </c:pt>
                <c:pt idx="5">
                  <c:v>114000</c:v>
                </c:pt>
                <c:pt idx="6">
                  <c:v>87000</c:v>
                </c:pt>
                <c:pt idx="7">
                  <c:v>72000</c:v>
                </c:pt>
                <c:pt idx="8">
                  <c:v>65000</c:v>
                </c:pt>
                <c:pt idx="9">
                  <c:v>75000</c:v>
                </c:pt>
                <c:pt idx="10">
                  <c:v>90000</c:v>
                </c:pt>
                <c:pt idx="11">
                  <c:v>109000</c:v>
                </c:pt>
                <c:pt idx="12">
                  <c:v>80000</c:v>
                </c:pt>
                <c:pt idx="13">
                  <c:v>69000</c:v>
                </c:pt>
                <c:pt idx="14">
                  <c:v>83000</c:v>
                </c:pt>
                <c:pt idx="15">
                  <c:v>122000</c:v>
                </c:pt>
                <c:pt idx="16">
                  <c:v>126000</c:v>
                </c:pt>
                <c:pt idx="17">
                  <c:v>96000</c:v>
                </c:pt>
                <c:pt idx="18">
                  <c:v>87000</c:v>
                </c:pt>
                <c:pt idx="19">
                  <c:v>94000</c:v>
                </c:pt>
                <c:pt idx="20">
                  <c:v>100000</c:v>
                </c:pt>
                <c:pt idx="21">
                  <c:v>89000</c:v>
                </c:pt>
                <c:pt idx="22">
                  <c:v>76000</c:v>
                </c:pt>
                <c:pt idx="23">
                  <c:v>90000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BDD-45E9-B63D-5A764C321A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0A4AE"/>
                </a:solidFill>
                <a:latin typeface="Arial"/>
              </a:defRPr>
            </a:pPr>
            <a:endParaRPr lang="tr-T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A4AE"/>
                </a:solidFill>
                <a:latin typeface="Arial"/>
              </a:defRPr>
            </a:pPr>
            <a:endParaRPr lang="tr-T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/>
          </a:pPr>
          <a:endParaRPr lang="tr-TR"/>
        </a:p>
      </c:txPr>
    </c:legend>
    <c:plotVisOnly val="1"/>
    <c:dispBlanksAs val="span"/>
    <c:showDLblsOverMax val="1"/>
  </c:chart>
  <c:spPr>
    <a:solidFill>
      <a:srgbClr val="EEF5FC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E7D32"/>
                </a:solidFill>
                <a:latin typeface="Arial"/>
              </a:defRPr>
            </a:pPr>
            <a:r>
              <a:rPr sz="1100" b="0" i="0" u="none" strike="noStrike">
                <a:solidFill>
                  <a:srgbClr val="2E7D32"/>
                </a:solidFill>
                <a:latin typeface="Arial"/>
              </a:rPr>
              <a:t>XGBoost  —  R²: 0.7184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XGBoost</c:v>
                </c:pt>
              </c:strCache>
            </c:strRef>
          </c:tx>
          <c:spPr>
            <a:ln w="25400" cap="flat">
              <a:solidFill>
                <a:srgbClr val="1565C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565C0"/>
              </a:solidFill>
              <a:ln w="9525" cap="flat">
                <a:solidFill>
                  <a:srgbClr val="1565C0"/>
                </a:solidFill>
                <a:prstDash val="solid"/>
                <a:round/>
              </a:ln>
              <a:effectLst/>
            </c:spPr>
          </c:marker>
          <c:xVal>
            <c:numRef>
              <c:f>Sheet1!$A$2:$A$16</c:f>
              <c:numCache>
                <c:formatCode>General</c:formatCode>
                <c:ptCount val="15"/>
                <c:pt idx="0">
                  <c:v>42000</c:v>
                </c:pt>
                <c:pt idx="1">
                  <c:v>48000</c:v>
                </c:pt>
                <c:pt idx="2">
                  <c:v>53000</c:v>
                </c:pt>
                <c:pt idx="3">
                  <c:v>60000</c:v>
                </c:pt>
                <c:pt idx="4">
                  <c:v>65000</c:v>
                </c:pt>
                <c:pt idx="5">
                  <c:v>70000</c:v>
                </c:pt>
                <c:pt idx="6">
                  <c:v>76000</c:v>
                </c:pt>
                <c:pt idx="7">
                  <c:v>83000</c:v>
                </c:pt>
                <c:pt idx="8">
                  <c:v>90000</c:v>
                </c:pt>
                <c:pt idx="9">
                  <c:v>96000</c:v>
                </c:pt>
                <c:pt idx="10">
                  <c:v>102000</c:v>
                </c:pt>
                <c:pt idx="11">
                  <c:v>110000</c:v>
                </c:pt>
                <c:pt idx="12">
                  <c:v>118000</c:v>
                </c:pt>
                <c:pt idx="13">
                  <c:v>124000</c:v>
                </c:pt>
                <c:pt idx="14">
                  <c:v>132000</c:v>
                </c:pt>
              </c:numCache>
            </c:numRef>
          </c:xVal>
          <c:yVal>
            <c:numRef>
              <c:f>Sheet1!$B$2:$B$16</c:f>
              <c:numCache>
                <c:formatCode>General</c:formatCode>
                <c:ptCount val="15"/>
                <c:pt idx="0">
                  <c:v>41000</c:v>
                </c:pt>
                <c:pt idx="1">
                  <c:v>47000</c:v>
                </c:pt>
                <c:pt idx="2">
                  <c:v>55000</c:v>
                </c:pt>
                <c:pt idx="3">
                  <c:v>62000</c:v>
                </c:pt>
                <c:pt idx="4">
                  <c:v>64000</c:v>
                </c:pt>
                <c:pt idx="5">
                  <c:v>72000</c:v>
                </c:pt>
                <c:pt idx="6">
                  <c:v>75000</c:v>
                </c:pt>
                <c:pt idx="7">
                  <c:v>81000</c:v>
                </c:pt>
                <c:pt idx="8">
                  <c:v>91000</c:v>
                </c:pt>
                <c:pt idx="9">
                  <c:v>97000</c:v>
                </c:pt>
                <c:pt idx="10">
                  <c:v>97000</c:v>
                </c:pt>
                <c:pt idx="11">
                  <c:v>111000</c:v>
                </c:pt>
                <c:pt idx="12">
                  <c:v>116000</c:v>
                </c:pt>
                <c:pt idx="13">
                  <c:v>126000</c:v>
                </c:pt>
                <c:pt idx="14">
                  <c:v>130000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5EE-4316-96C7-7EAACC55613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İdeal 45°</c:v>
                </c:pt>
              </c:strCache>
            </c:strRef>
          </c:tx>
          <c:spPr>
            <a:ln w="25400" cap="flat">
              <a:solidFill>
                <a:srgbClr val="DDDDD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DDDDD"/>
              </a:solidFill>
              <a:ln w="9525" cap="flat">
                <a:solidFill>
                  <a:srgbClr val="DDDDDD"/>
                </a:solidFill>
                <a:prstDash val="solid"/>
                <a:round/>
              </a:ln>
              <a:effectLst/>
            </c:spPr>
          </c:marker>
          <c:xVal>
            <c:numRef>
              <c:f>Sheet1!$A$2:$A$16</c:f>
              <c:numCache>
                <c:formatCode>General</c:formatCode>
                <c:ptCount val="15"/>
                <c:pt idx="0">
                  <c:v>42000</c:v>
                </c:pt>
                <c:pt idx="1">
                  <c:v>48000</c:v>
                </c:pt>
                <c:pt idx="2">
                  <c:v>53000</c:v>
                </c:pt>
                <c:pt idx="3">
                  <c:v>60000</c:v>
                </c:pt>
                <c:pt idx="4">
                  <c:v>65000</c:v>
                </c:pt>
                <c:pt idx="5">
                  <c:v>70000</c:v>
                </c:pt>
                <c:pt idx="6">
                  <c:v>76000</c:v>
                </c:pt>
                <c:pt idx="7">
                  <c:v>83000</c:v>
                </c:pt>
                <c:pt idx="8">
                  <c:v>90000</c:v>
                </c:pt>
                <c:pt idx="9">
                  <c:v>96000</c:v>
                </c:pt>
                <c:pt idx="10">
                  <c:v>102000</c:v>
                </c:pt>
                <c:pt idx="11">
                  <c:v>110000</c:v>
                </c:pt>
                <c:pt idx="12">
                  <c:v>118000</c:v>
                </c:pt>
                <c:pt idx="13">
                  <c:v>124000</c:v>
                </c:pt>
                <c:pt idx="14">
                  <c:v>132000</c:v>
                </c:pt>
              </c:numCache>
            </c:numRef>
          </c:xVal>
          <c:yVal>
            <c:numRef>
              <c:f>Sheet1!$C$2:$C$16</c:f>
              <c:numCache>
                <c:formatCode>General</c:formatCode>
                <c:ptCount val="15"/>
                <c:pt idx="0">
                  <c:v>42000</c:v>
                </c:pt>
                <c:pt idx="1">
                  <c:v>48000</c:v>
                </c:pt>
                <c:pt idx="2">
                  <c:v>53000</c:v>
                </c:pt>
                <c:pt idx="3">
                  <c:v>60000</c:v>
                </c:pt>
                <c:pt idx="4">
                  <c:v>65000</c:v>
                </c:pt>
                <c:pt idx="5">
                  <c:v>70000</c:v>
                </c:pt>
                <c:pt idx="6">
                  <c:v>76000</c:v>
                </c:pt>
                <c:pt idx="7">
                  <c:v>83000</c:v>
                </c:pt>
                <c:pt idx="8">
                  <c:v>90000</c:v>
                </c:pt>
                <c:pt idx="9">
                  <c:v>96000</c:v>
                </c:pt>
                <c:pt idx="10">
                  <c:v>102000</c:v>
                </c:pt>
                <c:pt idx="11">
                  <c:v>110000</c:v>
                </c:pt>
                <c:pt idx="12">
                  <c:v>118000</c:v>
                </c:pt>
                <c:pt idx="13">
                  <c:v>124000</c:v>
                </c:pt>
                <c:pt idx="14">
                  <c:v>132000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C5EE-4316-96C7-7EAACC5561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A64"/>
                </a:solidFill>
                <a:latin typeface="Arial"/>
              </a:defRPr>
            </a:pPr>
            <a:endParaRPr lang="tr-TR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A64"/>
                </a:solidFill>
                <a:latin typeface="Arial"/>
              </a:defRPr>
            </a:pPr>
            <a:endParaRPr lang="tr-TR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EEF5FC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C6282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C62828"/>
                </a:solidFill>
                <a:latin typeface="Arial"/>
              </a:rPr>
              <a:t>Bi-LSTM (Tek Başına)  —  R²: 0.2475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Bi-LSTM (Tek Başına)</c:v>
                </c:pt>
              </c:strCache>
            </c:strRef>
          </c:tx>
          <c:spPr>
            <a:ln w="25400" cap="flat">
              <a:solidFill>
                <a:srgbClr val="6A1B9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A1B9A"/>
              </a:solidFill>
              <a:ln w="9525" cap="flat">
                <a:solidFill>
                  <a:srgbClr val="6A1B9A"/>
                </a:solidFill>
                <a:prstDash val="solid"/>
                <a:round/>
              </a:ln>
              <a:effectLst/>
            </c:spPr>
          </c:marker>
          <c:xVal>
            <c:numRef>
              <c:f>Sheet1!$A$2:$A$16</c:f>
              <c:numCache>
                <c:formatCode>General</c:formatCode>
                <c:ptCount val="15"/>
                <c:pt idx="0">
                  <c:v>42000</c:v>
                </c:pt>
                <c:pt idx="1">
                  <c:v>48000</c:v>
                </c:pt>
                <c:pt idx="2">
                  <c:v>53000</c:v>
                </c:pt>
                <c:pt idx="3">
                  <c:v>60000</c:v>
                </c:pt>
                <c:pt idx="4">
                  <c:v>65000</c:v>
                </c:pt>
                <c:pt idx="5">
                  <c:v>70000</c:v>
                </c:pt>
                <c:pt idx="6">
                  <c:v>76000</c:v>
                </c:pt>
                <c:pt idx="7">
                  <c:v>83000</c:v>
                </c:pt>
                <c:pt idx="8">
                  <c:v>90000</c:v>
                </c:pt>
                <c:pt idx="9">
                  <c:v>96000</c:v>
                </c:pt>
                <c:pt idx="10">
                  <c:v>102000</c:v>
                </c:pt>
                <c:pt idx="11">
                  <c:v>110000</c:v>
                </c:pt>
                <c:pt idx="12">
                  <c:v>118000</c:v>
                </c:pt>
                <c:pt idx="13">
                  <c:v>124000</c:v>
                </c:pt>
                <c:pt idx="14">
                  <c:v>132000</c:v>
                </c:pt>
              </c:numCache>
            </c:numRef>
          </c:xVal>
          <c:yVal>
            <c:numRef>
              <c:f>Sheet1!$B$2:$B$16</c:f>
              <c:numCache>
                <c:formatCode>General</c:formatCode>
                <c:ptCount val="15"/>
                <c:pt idx="0">
                  <c:v>35000</c:v>
                </c:pt>
                <c:pt idx="1">
                  <c:v>55000</c:v>
                </c:pt>
                <c:pt idx="2">
                  <c:v>40000</c:v>
                </c:pt>
                <c:pt idx="3">
                  <c:v>80000</c:v>
                </c:pt>
                <c:pt idx="4">
                  <c:v>50000</c:v>
                </c:pt>
                <c:pt idx="5">
                  <c:v>90000</c:v>
                </c:pt>
                <c:pt idx="6">
                  <c:v>60000</c:v>
                </c:pt>
                <c:pt idx="7">
                  <c:v>70000</c:v>
                </c:pt>
                <c:pt idx="8">
                  <c:v>110000</c:v>
                </c:pt>
                <c:pt idx="9">
                  <c:v>80000</c:v>
                </c:pt>
                <c:pt idx="10">
                  <c:v>85000</c:v>
                </c:pt>
                <c:pt idx="11">
                  <c:v>95000</c:v>
                </c:pt>
                <c:pt idx="12">
                  <c:v>105000</c:v>
                </c:pt>
                <c:pt idx="13">
                  <c:v>100000</c:v>
                </c:pt>
                <c:pt idx="14">
                  <c:v>145000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05C-4F21-8C4D-1558BA68849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İdeal 45°</c:v>
                </c:pt>
              </c:strCache>
            </c:strRef>
          </c:tx>
          <c:spPr>
            <a:ln w="25400" cap="flat">
              <a:solidFill>
                <a:srgbClr val="DDDDD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DDDDD"/>
              </a:solidFill>
              <a:ln w="9525" cap="flat">
                <a:solidFill>
                  <a:srgbClr val="DDDDDD"/>
                </a:solidFill>
                <a:prstDash val="solid"/>
                <a:round/>
              </a:ln>
              <a:effectLst/>
            </c:spPr>
          </c:marker>
          <c:xVal>
            <c:numRef>
              <c:f>Sheet1!$A$2:$A$16</c:f>
              <c:numCache>
                <c:formatCode>General</c:formatCode>
                <c:ptCount val="15"/>
                <c:pt idx="0">
                  <c:v>42000</c:v>
                </c:pt>
                <c:pt idx="1">
                  <c:v>48000</c:v>
                </c:pt>
                <c:pt idx="2">
                  <c:v>53000</c:v>
                </c:pt>
                <c:pt idx="3">
                  <c:v>60000</c:v>
                </c:pt>
                <c:pt idx="4">
                  <c:v>65000</c:v>
                </c:pt>
                <c:pt idx="5">
                  <c:v>70000</c:v>
                </c:pt>
                <c:pt idx="6">
                  <c:v>76000</c:v>
                </c:pt>
                <c:pt idx="7">
                  <c:v>83000</c:v>
                </c:pt>
                <c:pt idx="8">
                  <c:v>90000</c:v>
                </c:pt>
                <c:pt idx="9">
                  <c:v>96000</c:v>
                </c:pt>
                <c:pt idx="10">
                  <c:v>102000</c:v>
                </c:pt>
                <c:pt idx="11">
                  <c:v>110000</c:v>
                </c:pt>
                <c:pt idx="12">
                  <c:v>118000</c:v>
                </c:pt>
                <c:pt idx="13">
                  <c:v>124000</c:v>
                </c:pt>
                <c:pt idx="14">
                  <c:v>132000</c:v>
                </c:pt>
              </c:numCache>
            </c:numRef>
          </c:xVal>
          <c:yVal>
            <c:numRef>
              <c:f>Sheet1!$C$2:$C$16</c:f>
              <c:numCache>
                <c:formatCode>General</c:formatCode>
                <c:ptCount val="15"/>
                <c:pt idx="0">
                  <c:v>42000</c:v>
                </c:pt>
                <c:pt idx="1">
                  <c:v>48000</c:v>
                </c:pt>
                <c:pt idx="2">
                  <c:v>53000</c:v>
                </c:pt>
                <c:pt idx="3">
                  <c:v>60000</c:v>
                </c:pt>
                <c:pt idx="4">
                  <c:v>65000</c:v>
                </c:pt>
                <c:pt idx="5">
                  <c:v>70000</c:v>
                </c:pt>
                <c:pt idx="6">
                  <c:v>76000</c:v>
                </c:pt>
                <c:pt idx="7">
                  <c:v>83000</c:v>
                </c:pt>
                <c:pt idx="8">
                  <c:v>90000</c:v>
                </c:pt>
                <c:pt idx="9">
                  <c:v>96000</c:v>
                </c:pt>
                <c:pt idx="10">
                  <c:v>102000</c:v>
                </c:pt>
                <c:pt idx="11">
                  <c:v>110000</c:v>
                </c:pt>
                <c:pt idx="12">
                  <c:v>118000</c:v>
                </c:pt>
                <c:pt idx="13">
                  <c:v>124000</c:v>
                </c:pt>
                <c:pt idx="14">
                  <c:v>132000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205C-4F21-8C4D-1558BA6884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A64"/>
                </a:solidFill>
                <a:latin typeface="Arial"/>
              </a:defRPr>
            </a:pPr>
            <a:endParaRPr lang="tr-TR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A64"/>
                </a:solidFill>
                <a:latin typeface="Arial"/>
              </a:defRPr>
            </a:pPr>
            <a:endParaRPr lang="tr-TR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EEF5FC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E7D32"/>
                </a:solidFill>
                <a:latin typeface="Arial"/>
              </a:defRPr>
            </a:pPr>
            <a:r>
              <a:rPr sz="1100" b="0" i="0" u="none" strike="noStrike">
                <a:solidFill>
                  <a:srgbClr val="2E7D32"/>
                </a:solidFill>
                <a:latin typeface="Arial"/>
              </a:rPr>
              <a:t>Stacking Ensemble  —  R²: 0.7361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Stacking Ensemble</c:v>
                </c:pt>
              </c:strCache>
            </c:strRef>
          </c:tx>
          <c:spPr>
            <a:ln w="25400" cap="flat">
              <a:solidFill>
                <a:srgbClr val="F9A82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9A825"/>
              </a:solidFill>
              <a:ln w="9525" cap="flat">
                <a:solidFill>
                  <a:srgbClr val="F9A825"/>
                </a:solidFill>
                <a:prstDash val="solid"/>
                <a:round/>
              </a:ln>
              <a:effectLst/>
            </c:spPr>
          </c:marker>
          <c:xVal>
            <c:numRef>
              <c:f>Sheet1!$A$2:$A$16</c:f>
              <c:numCache>
                <c:formatCode>General</c:formatCode>
                <c:ptCount val="15"/>
                <c:pt idx="0">
                  <c:v>42000</c:v>
                </c:pt>
                <c:pt idx="1">
                  <c:v>48000</c:v>
                </c:pt>
                <c:pt idx="2">
                  <c:v>53000</c:v>
                </c:pt>
                <c:pt idx="3">
                  <c:v>60000</c:v>
                </c:pt>
                <c:pt idx="4">
                  <c:v>65000</c:v>
                </c:pt>
                <c:pt idx="5">
                  <c:v>70000</c:v>
                </c:pt>
                <c:pt idx="6">
                  <c:v>76000</c:v>
                </c:pt>
                <c:pt idx="7">
                  <c:v>83000</c:v>
                </c:pt>
                <c:pt idx="8">
                  <c:v>90000</c:v>
                </c:pt>
                <c:pt idx="9">
                  <c:v>96000</c:v>
                </c:pt>
                <c:pt idx="10">
                  <c:v>102000</c:v>
                </c:pt>
                <c:pt idx="11">
                  <c:v>110000</c:v>
                </c:pt>
                <c:pt idx="12">
                  <c:v>118000</c:v>
                </c:pt>
                <c:pt idx="13">
                  <c:v>124000</c:v>
                </c:pt>
                <c:pt idx="14">
                  <c:v>132000</c:v>
                </c:pt>
              </c:numCache>
            </c:numRef>
          </c:xVal>
          <c:yVal>
            <c:numRef>
              <c:f>Sheet1!$B$2:$B$16</c:f>
              <c:numCache>
                <c:formatCode>General</c:formatCode>
                <c:ptCount val="15"/>
                <c:pt idx="0">
                  <c:v>40000</c:v>
                </c:pt>
                <c:pt idx="1">
                  <c:v>47000</c:v>
                </c:pt>
                <c:pt idx="2">
                  <c:v>56000</c:v>
                </c:pt>
                <c:pt idx="3">
                  <c:v>62000</c:v>
                </c:pt>
                <c:pt idx="4">
                  <c:v>63000</c:v>
                </c:pt>
                <c:pt idx="5">
                  <c:v>73000</c:v>
                </c:pt>
                <c:pt idx="6">
                  <c:v>74000</c:v>
                </c:pt>
                <c:pt idx="7">
                  <c:v>80000</c:v>
                </c:pt>
                <c:pt idx="8">
                  <c:v>92000</c:v>
                </c:pt>
                <c:pt idx="9">
                  <c:v>98000</c:v>
                </c:pt>
                <c:pt idx="10">
                  <c:v>96000</c:v>
                </c:pt>
                <c:pt idx="11">
                  <c:v>112000</c:v>
                </c:pt>
                <c:pt idx="12">
                  <c:v>115000</c:v>
                </c:pt>
                <c:pt idx="13">
                  <c:v>127000</c:v>
                </c:pt>
                <c:pt idx="14">
                  <c:v>129000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02A-4ECA-A836-8DEF946730A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İdeal 45°</c:v>
                </c:pt>
              </c:strCache>
            </c:strRef>
          </c:tx>
          <c:spPr>
            <a:ln w="25400" cap="flat">
              <a:solidFill>
                <a:srgbClr val="DDDDD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DDDDD"/>
              </a:solidFill>
              <a:ln w="9525" cap="flat">
                <a:solidFill>
                  <a:srgbClr val="DDDDDD"/>
                </a:solidFill>
                <a:prstDash val="solid"/>
                <a:round/>
              </a:ln>
              <a:effectLst/>
            </c:spPr>
          </c:marker>
          <c:xVal>
            <c:numRef>
              <c:f>Sheet1!$A$2:$A$16</c:f>
              <c:numCache>
                <c:formatCode>General</c:formatCode>
                <c:ptCount val="15"/>
                <c:pt idx="0">
                  <c:v>42000</c:v>
                </c:pt>
                <c:pt idx="1">
                  <c:v>48000</c:v>
                </c:pt>
                <c:pt idx="2">
                  <c:v>53000</c:v>
                </c:pt>
                <c:pt idx="3">
                  <c:v>60000</c:v>
                </c:pt>
                <c:pt idx="4">
                  <c:v>65000</c:v>
                </c:pt>
                <c:pt idx="5">
                  <c:v>70000</c:v>
                </c:pt>
                <c:pt idx="6">
                  <c:v>76000</c:v>
                </c:pt>
                <c:pt idx="7">
                  <c:v>83000</c:v>
                </c:pt>
                <c:pt idx="8">
                  <c:v>90000</c:v>
                </c:pt>
                <c:pt idx="9">
                  <c:v>96000</c:v>
                </c:pt>
                <c:pt idx="10">
                  <c:v>102000</c:v>
                </c:pt>
                <c:pt idx="11">
                  <c:v>110000</c:v>
                </c:pt>
                <c:pt idx="12">
                  <c:v>118000</c:v>
                </c:pt>
                <c:pt idx="13">
                  <c:v>124000</c:v>
                </c:pt>
                <c:pt idx="14">
                  <c:v>132000</c:v>
                </c:pt>
              </c:numCache>
            </c:numRef>
          </c:xVal>
          <c:yVal>
            <c:numRef>
              <c:f>Sheet1!$C$2:$C$16</c:f>
              <c:numCache>
                <c:formatCode>General</c:formatCode>
                <c:ptCount val="15"/>
                <c:pt idx="0">
                  <c:v>42000</c:v>
                </c:pt>
                <c:pt idx="1">
                  <c:v>48000</c:v>
                </c:pt>
                <c:pt idx="2">
                  <c:v>53000</c:v>
                </c:pt>
                <c:pt idx="3">
                  <c:v>60000</c:v>
                </c:pt>
                <c:pt idx="4">
                  <c:v>65000</c:v>
                </c:pt>
                <c:pt idx="5">
                  <c:v>70000</c:v>
                </c:pt>
                <c:pt idx="6">
                  <c:v>76000</c:v>
                </c:pt>
                <c:pt idx="7">
                  <c:v>83000</c:v>
                </c:pt>
                <c:pt idx="8">
                  <c:v>90000</c:v>
                </c:pt>
                <c:pt idx="9">
                  <c:v>96000</c:v>
                </c:pt>
                <c:pt idx="10">
                  <c:v>102000</c:v>
                </c:pt>
                <c:pt idx="11">
                  <c:v>110000</c:v>
                </c:pt>
                <c:pt idx="12">
                  <c:v>118000</c:v>
                </c:pt>
                <c:pt idx="13">
                  <c:v>124000</c:v>
                </c:pt>
                <c:pt idx="14">
                  <c:v>132000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202A-4ECA-A836-8DEF946730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A64"/>
                </a:solidFill>
                <a:latin typeface="Arial"/>
              </a:defRPr>
            </a:pPr>
            <a:endParaRPr lang="tr-TR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A64"/>
                </a:solidFill>
                <a:latin typeface="Arial"/>
              </a:defRPr>
            </a:pPr>
            <a:endParaRPr lang="tr-TR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EEF5FC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D1B2A"/>
                </a:solidFill>
                <a:latin typeface="Arial"/>
              </a:rPr>
              <a:t>SARIMAX (Baseline)  —  R²: 0.5724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SARIMAX (Baseline)</c:v>
                </c:pt>
              </c:strCache>
            </c:strRef>
          </c:tx>
          <c:spPr>
            <a:ln w="25400" cap="flat">
              <a:solidFill>
                <a:srgbClr val="455A6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55A64"/>
              </a:solidFill>
              <a:ln w="9525" cap="flat">
                <a:solidFill>
                  <a:srgbClr val="455A64"/>
                </a:solidFill>
                <a:prstDash val="solid"/>
                <a:round/>
              </a:ln>
              <a:effectLst/>
            </c:spPr>
          </c:marker>
          <c:xVal>
            <c:numRef>
              <c:f>Sheet1!$A$2:$A$16</c:f>
              <c:numCache>
                <c:formatCode>General</c:formatCode>
                <c:ptCount val="15"/>
                <c:pt idx="0">
                  <c:v>42000</c:v>
                </c:pt>
                <c:pt idx="1">
                  <c:v>48000</c:v>
                </c:pt>
                <c:pt idx="2">
                  <c:v>53000</c:v>
                </c:pt>
                <c:pt idx="3">
                  <c:v>60000</c:v>
                </c:pt>
                <c:pt idx="4">
                  <c:v>65000</c:v>
                </c:pt>
                <c:pt idx="5">
                  <c:v>70000</c:v>
                </c:pt>
                <c:pt idx="6">
                  <c:v>76000</c:v>
                </c:pt>
                <c:pt idx="7">
                  <c:v>83000</c:v>
                </c:pt>
                <c:pt idx="8">
                  <c:v>90000</c:v>
                </c:pt>
                <c:pt idx="9">
                  <c:v>96000</c:v>
                </c:pt>
                <c:pt idx="10">
                  <c:v>102000</c:v>
                </c:pt>
                <c:pt idx="11">
                  <c:v>110000</c:v>
                </c:pt>
                <c:pt idx="12">
                  <c:v>118000</c:v>
                </c:pt>
                <c:pt idx="13">
                  <c:v>124000</c:v>
                </c:pt>
                <c:pt idx="14">
                  <c:v>132000</c:v>
                </c:pt>
              </c:numCache>
            </c:numRef>
          </c:xVal>
          <c:yVal>
            <c:numRef>
              <c:f>Sheet1!$B$2:$B$16</c:f>
              <c:numCache>
                <c:formatCode>General</c:formatCode>
                <c:ptCount val="15"/>
                <c:pt idx="0">
                  <c:v>39540</c:v>
                </c:pt>
                <c:pt idx="1">
                  <c:v>44760</c:v>
                </c:pt>
                <c:pt idx="2">
                  <c:v>49110</c:v>
                </c:pt>
                <c:pt idx="3">
                  <c:v>55200</c:v>
                </c:pt>
                <c:pt idx="4">
                  <c:v>59550</c:v>
                </c:pt>
                <c:pt idx="5">
                  <c:v>63900</c:v>
                </c:pt>
                <c:pt idx="6">
                  <c:v>69120</c:v>
                </c:pt>
                <c:pt idx="7">
                  <c:v>75210</c:v>
                </c:pt>
                <c:pt idx="8">
                  <c:v>81300</c:v>
                </c:pt>
                <c:pt idx="9">
                  <c:v>86520</c:v>
                </c:pt>
                <c:pt idx="10">
                  <c:v>91740</c:v>
                </c:pt>
                <c:pt idx="11">
                  <c:v>98700</c:v>
                </c:pt>
                <c:pt idx="12">
                  <c:v>105660</c:v>
                </c:pt>
                <c:pt idx="13">
                  <c:v>110880</c:v>
                </c:pt>
                <c:pt idx="14">
                  <c:v>117840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C07-4D0D-A960-F5CB14F5D55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İdeal 45°</c:v>
                </c:pt>
              </c:strCache>
            </c:strRef>
          </c:tx>
          <c:spPr>
            <a:ln w="25400" cap="flat">
              <a:solidFill>
                <a:srgbClr val="DDDDD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DDDDD"/>
              </a:solidFill>
              <a:ln w="9525" cap="flat">
                <a:solidFill>
                  <a:srgbClr val="DDDDDD"/>
                </a:solidFill>
                <a:prstDash val="solid"/>
                <a:round/>
              </a:ln>
              <a:effectLst/>
            </c:spPr>
          </c:marker>
          <c:xVal>
            <c:numRef>
              <c:f>Sheet1!$A$2:$A$16</c:f>
              <c:numCache>
                <c:formatCode>General</c:formatCode>
                <c:ptCount val="15"/>
                <c:pt idx="0">
                  <c:v>42000</c:v>
                </c:pt>
                <c:pt idx="1">
                  <c:v>48000</c:v>
                </c:pt>
                <c:pt idx="2">
                  <c:v>53000</c:v>
                </c:pt>
                <c:pt idx="3">
                  <c:v>60000</c:v>
                </c:pt>
                <c:pt idx="4">
                  <c:v>65000</c:v>
                </c:pt>
                <c:pt idx="5">
                  <c:v>70000</c:v>
                </c:pt>
                <c:pt idx="6">
                  <c:v>76000</c:v>
                </c:pt>
                <c:pt idx="7">
                  <c:v>83000</c:v>
                </c:pt>
                <c:pt idx="8">
                  <c:v>90000</c:v>
                </c:pt>
                <c:pt idx="9">
                  <c:v>96000</c:v>
                </c:pt>
                <c:pt idx="10">
                  <c:v>102000</c:v>
                </c:pt>
                <c:pt idx="11">
                  <c:v>110000</c:v>
                </c:pt>
                <c:pt idx="12">
                  <c:v>118000</c:v>
                </c:pt>
                <c:pt idx="13">
                  <c:v>124000</c:v>
                </c:pt>
                <c:pt idx="14">
                  <c:v>132000</c:v>
                </c:pt>
              </c:numCache>
            </c:numRef>
          </c:xVal>
          <c:yVal>
            <c:numRef>
              <c:f>Sheet1!$C$2:$C$16</c:f>
              <c:numCache>
                <c:formatCode>General</c:formatCode>
                <c:ptCount val="15"/>
                <c:pt idx="0">
                  <c:v>42000</c:v>
                </c:pt>
                <c:pt idx="1">
                  <c:v>48000</c:v>
                </c:pt>
                <c:pt idx="2">
                  <c:v>53000</c:v>
                </c:pt>
                <c:pt idx="3">
                  <c:v>60000</c:v>
                </c:pt>
                <c:pt idx="4">
                  <c:v>65000</c:v>
                </c:pt>
                <c:pt idx="5">
                  <c:v>70000</c:v>
                </c:pt>
                <c:pt idx="6">
                  <c:v>76000</c:v>
                </c:pt>
                <c:pt idx="7">
                  <c:v>83000</c:v>
                </c:pt>
                <c:pt idx="8">
                  <c:v>90000</c:v>
                </c:pt>
                <c:pt idx="9">
                  <c:v>96000</c:v>
                </c:pt>
                <c:pt idx="10">
                  <c:v>102000</c:v>
                </c:pt>
                <c:pt idx="11">
                  <c:v>110000</c:v>
                </c:pt>
                <c:pt idx="12">
                  <c:v>118000</c:v>
                </c:pt>
                <c:pt idx="13">
                  <c:v>124000</c:v>
                </c:pt>
                <c:pt idx="14">
                  <c:v>132000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DC07-4D0D-A960-F5CB14F5D5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A64"/>
                </a:solidFill>
                <a:latin typeface="Arial"/>
              </a:defRPr>
            </a:pPr>
            <a:endParaRPr lang="tr-TR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A64"/>
                </a:solidFill>
                <a:latin typeface="Arial"/>
              </a:defRPr>
            </a:pPr>
            <a:endParaRPr lang="tr-TR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EEF5FC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D1B2A"/>
                </a:solidFill>
                <a:latin typeface="Arial"/>
              </a:rPr>
              <a:t>R² Skoru (Yüksek = Daha İyi)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Skoru</c:v>
                </c:pt>
              </c:strCache>
            </c:strRef>
          </c:tx>
          <c:spPr>
            <a:solidFill>
              <a:srgbClr val="90A4A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AC8-4E1C-9F99-49F7240093C1}"/>
              </c:ext>
            </c:extLst>
          </c:dPt>
          <c:dPt>
            <c:idx val="1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AC8-4E1C-9F99-49F7240093C1}"/>
              </c:ext>
            </c:extLst>
          </c:dPt>
          <c:dPt>
            <c:idx val="2"/>
            <c:invertIfNegative val="0"/>
            <c:bubble3D val="0"/>
            <c:spPr>
              <a:solidFill>
                <a:srgbClr val="C628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AC8-4E1C-9F99-49F7240093C1}"/>
              </c:ext>
            </c:extLst>
          </c:dPt>
          <c:dPt>
            <c:idx val="3"/>
            <c:invertIfNegative val="0"/>
            <c:bubble3D val="0"/>
            <c:spPr>
              <a:solidFill>
                <a:srgbClr val="F9A82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AC8-4E1C-9F99-49F7240093C1}"/>
              </c:ext>
            </c:extLst>
          </c:dPt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SARIMAX</c:v>
                </c:pt>
                <c:pt idx="1">
                  <c:v>XGBoost</c:v>
                </c:pt>
                <c:pt idx="2">
                  <c:v>Bi-LSTM</c:v>
                </c:pt>
                <c:pt idx="3">
                  <c:v>Stacking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0.57240000000000002</c:v>
                </c:pt>
                <c:pt idx="1">
                  <c:v>0.71840000000000004</c:v>
                </c:pt>
                <c:pt idx="2">
                  <c:v>0.2475</c:v>
                </c:pt>
                <c:pt idx="3">
                  <c:v>0.73609999999999998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AC8-4E1C-9F99-49F7240093C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55A64"/>
                </a:solidFill>
                <a:latin typeface="Arial"/>
              </a:defRPr>
            </a:pPr>
            <a:endParaRPr lang="tr-T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A64"/>
                </a:solidFill>
                <a:latin typeface="Arial"/>
              </a:defRPr>
            </a:pPr>
            <a:endParaRPr lang="tr-T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EEF5FC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D1B2A"/>
                </a:solidFill>
                <a:latin typeface="Arial"/>
              </a:rPr>
              <a:t>MAE £ (Düşük = Daha İyi)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(£)</c:v>
                </c:pt>
              </c:strCache>
            </c:strRef>
          </c:tx>
          <c:spPr>
            <a:solidFill>
              <a:srgbClr val="90A4A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58F-45C2-B3EB-378944F6FA17}"/>
              </c:ext>
            </c:extLst>
          </c:dPt>
          <c:dPt>
            <c:idx val="1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58F-45C2-B3EB-378944F6FA17}"/>
              </c:ext>
            </c:extLst>
          </c:dPt>
          <c:dPt>
            <c:idx val="2"/>
            <c:invertIfNegative val="0"/>
            <c:bubble3D val="0"/>
            <c:spPr>
              <a:solidFill>
                <a:srgbClr val="C628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58F-45C2-B3EB-378944F6FA17}"/>
              </c:ext>
            </c:extLst>
          </c:dPt>
          <c:dPt>
            <c:idx val="3"/>
            <c:invertIfNegative val="0"/>
            <c:bubble3D val="0"/>
            <c:spPr>
              <a:solidFill>
                <a:srgbClr val="F9A82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58F-45C2-B3EB-378944F6FA1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SARIMAX</c:v>
                </c:pt>
                <c:pt idx="1">
                  <c:v>XGBoost</c:v>
                </c:pt>
                <c:pt idx="2">
                  <c:v>Bi-LSTM</c:v>
                </c:pt>
                <c:pt idx="3">
                  <c:v>Stacking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7464.17</c:v>
                </c:pt>
                <c:pt idx="1">
                  <c:v>5504.07</c:v>
                </c:pt>
                <c:pt idx="2">
                  <c:v>9532.5</c:v>
                </c:pt>
                <c:pt idx="3">
                  <c:v>5743.18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58F-45C2-B3EB-378944F6FA1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0A4AE"/>
                </a:solidFill>
                <a:latin typeface="Arial"/>
              </a:defRPr>
            </a:pPr>
            <a:endParaRPr lang="tr-T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E3F0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9793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0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411480"/>
            <a:ext cx="8759952" cy="4572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029200"/>
            <a:ext cx="8759952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3035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BİLECİK ŞEYH EDEBALİ ÜNİVERSİTESİ  |  LİSANS BİTİRME TEZİ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E-TİCARET SİSTEMLERİNDE
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SATIŞ TAHMİNLEME ve ÜRÜN DAVRANIŞ ANALİZİ:
HİBRİT MAKİNE ÖĞRENMESİ YAKLAŞIMI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65760" y="2999232"/>
            <a:ext cx="3840480" cy="36576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12724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Hazırlayan: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Edanur Demirel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56616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Danışman: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Dr. Serpil Türkyılmaz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94960" y="3246120"/>
            <a:ext cx="1078992" cy="384048"/>
          </a:xfrm>
          <a:prstGeom prst="roundRect">
            <a:avLst>
              <a:gd name="adj" fmla="val 19048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0" y="324612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83680" y="3246120"/>
            <a:ext cx="1078992" cy="384048"/>
          </a:xfrm>
          <a:prstGeom prst="roundRect">
            <a:avLst>
              <a:gd name="adj" fmla="val 19048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324612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Bi-LSTM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0" y="3246120"/>
            <a:ext cx="1078992" cy="384048"/>
          </a:xfrm>
          <a:prstGeom prst="roundRect">
            <a:avLst>
              <a:gd name="adj" fmla="val 19048"/>
            </a:avLst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0" y="324612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94960" y="3776472"/>
            <a:ext cx="1078992" cy="384048"/>
          </a:xfrm>
          <a:prstGeom prst="roundRect">
            <a:avLst>
              <a:gd name="adj" fmla="val 19048"/>
            </a:avLst>
          </a:prstGeom>
          <a:solidFill>
            <a:srgbClr val="455A64"/>
          </a:solidFill>
          <a:ln w="12700">
            <a:solidFill>
              <a:srgbClr val="455A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94960" y="3776472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SARIMAX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83680" y="3776472"/>
            <a:ext cx="1078992" cy="384048"/>
          </a:xfrm>
          <a:prstGeom prst="roundRect">
            <a:avLst>
              <a:gd name="adj" fmla="val 19048"/>
            </a:avLst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3776472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805K Kayıt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72400" y="3776472"/>
            <a:ext cx="1078992" cy="384048"/>
          </a:xfrm>
          <a:prstGeom prst="roundRect">
            <a:avLst>
              <a:gd name="adj" fmla="val 19048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0" y="3776472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Özellik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4773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SUNUM İÇERİĞİ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4251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F0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15568"/>
            <a:ext cx="54864" cy="42062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15568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111556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Tanımı &amp; Motivasyon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1115568"/>
            <a:ext cx="4251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F0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115568"/>
            <a:ext cx="54864" cy="42062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1115568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67528" y="111556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Araştırma Amaçları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1618488"/>
            <a:ext cx="4251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F0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618488"/>
            <a:ext cx="54864" cy="42062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618488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32688" y="161848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Seti Tanıtımı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09160" y="1618488"/>
            <a:ext cx="4251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F0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1618488"/>
            <a:ext cx="54864" cy="42062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1618488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67528" y="161848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Ön İşleme Süreci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2121408"/>
            <a:ext cx="4251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F0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121408"/>
            <a:ext cx="54864" cy="42062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2121408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2688" y="212140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Keşifsel Veri Analizi (EDA)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09160" y="2121408"/>
            <a:ext cx="4251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F0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121408"/>
            <a:ext cx="54864" cy="42062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18888" y="2121408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67528" y="212140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Analizi — Pareto İzolasyonu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74320" y="2624328"/>
            <a:ext cx="4251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F0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2624328"/>
            <a:ext cx="54864" cy="42062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2624328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32688" y="262432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 Mühendisliği (38 Değişken)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709160" y="2624328"/>
            <a:ext cx="4251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F0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2624328"/>
            <a:ext cx="54864" cy="42062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18888" y="2624328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67528" y="262432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Dönüşümü &amp; np.log1p()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274320" y="3127248"/>
            <a:ext cx="4251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F0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74320" y="3127248"/>
            <a:ext cx="54864" cy="420624"/>
          </a:xfrm>
          <a:prstGeom prst="rect">
            <a:avLst/>
          </a:prstGeom>
          <a:solidFill>
            <a:srgbClr val="455A64"/>
          </a:solidFill>
          <a:ln w="12700">
            <a:solidFill>
              <a:srgbClr val="455A6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" y="3127248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32688" y="312724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SARIMAX — Baseline Model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709160" y="3127248"/>
            <a:ext cx="4251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F0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3127248"/>
            <a:ext cx="54864" cy="42062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18888" y="3127248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367528" y="312724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— En Düşük MAE Modeli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274320" y="3630168"/>
            <a:ext cx="4251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F0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74320" y="3630168"/>
            <a:ext cx="54864" cy="42062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4048" y="3630168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932688" y="363016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Değişkenli Bi-LSTM Mimarisi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4709160" y="3630168"/>
            <a:ext cx="4251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F0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09160" y="3630168"/>
            <a:ext cx="54864" cy="42062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18888" y="3630168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367528" y="363016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Hibrit Stacking Ensemble Mimarisi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274320" y="4133088"/>
            <a:ext cx="4251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F0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274320" y="4133088"/>
            <a:ext cx="54864" cy="42062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4048" y="4133088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932688" y="413308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Karşılaştırmaları &amp; Bulgular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4709160" y="4133088"/>
            <a:ext cx="4251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F0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709160" y="4133088"/>
            <a:ext cx="54864" cy="42062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18888" y="4133088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5367528" y="413308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Sonuçlar &amp; Gelecek Vizyonu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TANIMI &amp; MOTİVASYON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E-Ticarette Talep Tahminin Zorluğu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078992"/>
            <a:ext cx="2724912" cy="3657600"/>
          </a:xfrm>
          <a:prstGeom prst="rect">
            <a:avLst/>
          </a:prstGeom>
          <a:solidFill>
            <a:srgbClr val="EEF5FC"/>
          </a:solidFill>
          <a:ln w="12700">
            <a:solidFill>
              <a:srgbClr val="E3F0FB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78992"/>
            <a:ext cx="64008" cy="36576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8872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Volatilite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1682496"/>
            <a:ext cx="2240280" cy="2743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783080"/>
            <a:ext cx="2423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E-ticaret günlük satışları geleneksel perakendeden 5–10 kat daha yüksek CV (&gt;%100) sergilemektedir. Mevsimsel döngüler, hafta içi/sonu farkları ve anlık kampanyalar veriye kaotik bir yapı kazandırır. ARIMA/SARIMA gibi doğrusal modeller bu gürültüyü işleyemez.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63824" y="1078992"/>
            <a:ext cx="2724912" cy="3657600"/>
          </a:xfrm>
          <a:prstGeom prst="rect">
            <a:avLst/>
          </a:prstGeom>
          <a:solidFill>
            <a:srgbClr val="EEF5FC"/>
          </a:solidFill>
          <a:ln w="12700">
            <a:solidFill>
              <a:srgbClr val="E3F0FB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63824" y="1078992"/>
            <a:ext cx="64008" cy="36576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118872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Kampanya Şokları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319272" y="1682496"/>
            <a:ext cx="2240280" cy="274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9272" y="1783080"/>
            <a:ext cx="2423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 Cuma, Siber Pazartesi, Yılbaşı gibi kampanya dönemlerinde satışlar 5–10 kat artmaktadır. Bu ani 'spike'lar tek model mimarileriyle sistematik olarak hafife alınmakta; stok yetersizliğine veya aşırı stoka yol açmaktadır.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71616" y="1078992"/>
            <a:ext cx="2724912" cy="3657600"/>
          </a:xfrm>
          <a:prstGeom prst="rect">
            <a:avLst/>
          </a:prstGeom>
          <a:solidFill>
            <a:srgbClr val="EEF5FC"/>
          </a:solidFill>
          <a:ln w="12700">
            <a:solidFill>
              <a:srgbClr val="E3F0FB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71616" y="1078992"/>
            <a:ext cx="64008" cy="3657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27064" y="118872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Literatür Boşluğu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27064" y="1682496"/>
            <a:ext cx="2240280" cy="274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27064" y="1783080"/>
            <a:ext cx="2423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Mevcut çalışmalar ya saf istatistiksel (ARIMA) ya da saf derin öğrenme (LSTM) modellerini ele almaktadır. Ancak LSTM tek başına e-ticaret gürültüsünde R²=0.2475 ile zayıf kalmaktadır. Ridge meta-öğrenicili Stacking bu boşluğu R²=0.7361 ile kapatmaktadır.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0" y="4736592"/>
            <a:ext cx="9144000" cy="3931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736592"/>
            <a:ext cx="8595360" cy="39319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Çözüm: XGBoost'un güçlü özellik yapısı + Bi-LSTM'in zaman bağımlılığı + Ridge meta-öğrenicisi = Stacking Ensemble  |  R²: 0.7361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ARAŞTIRMA AMAÇLARI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tezin cevap aradığı temel sorular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8595360" cy="694944"/>
          </a:xfrm>
          <a:prstGeom prst="rect">
            <a:avLst/>
          </a:prstGeom>
          <a:solidFill>
            <a:srgbClr val="EEF5FC"/>
          </a:solidFill>
          <a:ln w="12700">
            <a:solidFill>
              <a:srgbClr val="E3F0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64008" cy="6949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207008"/>
            <a:ext cx="502920" cy="384048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0700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1097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Karşılaştırmalı Performans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38988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SARIMAX, XGBoost ve Bi-LSTM modellerinin R², MAE ve RMSE metrikleri üzerinden sistematik karşılaştırmalı analizi. XGBoost'un (R²=0.7184) Bi-LSTM'i (R²=0.2475) neden geçtiğinin açıklanması.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1810512"/>
            <a:ext cx="8595360" cy="694944"/>
          </a:xfrm>
          <a:prstGeom prst="rect">
            <a:avLst/>
          </a:prstGeom>
          <a:solidFill>
            <a:srgbClr val="EEF5FC"/>
          </a:solidFill>
          <a:ln w="12700">
            <a:solidFill>
              <a:srgbClr val="E3F0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810512"/>
            <a:ext cx="64008" cy="69494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1965960"/>
            <a:ext cx="502920" cy="384048"/>
          </a:xfrm>
          <a:prstGeom prst="roundRect">
            <a:avLst>
              <a:gd name="adj" fmla="val 16667"/>
            </a:avLst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9659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18562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Hibrit Mimari Tasarımı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21488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Bi-LSTM + Ridge Regresyon Stacking Ensemble ile tek başına her modelden üstün bir tahmin sistemi kurgulamak. Hedef: R² &gt; 0.72. Elde edilen: R²=0.7361.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569464"/>
            <a:ext cx="8595360" cy="694944"/>
          </a:xfrm>
          <a:prstGeom prst="rect">
            <a:avLst/>
          </a:prstGeom>
          <a:solidFill>
            <a:srgbClr val="EEF5FC"/>
          </a:solidFill>
          <a:ln w="12700">
            <a:solidFill>
              <a:srgbClr val="E3F0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569464"/>
            <a:ext cx="64008" cy="69494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2724912"/>
            <a:ext cx="502920" cy="384048"/>
          </a:xfrm>
          <a:prstGeom prst="roundRect">
            <a:avLst>
              <a:gd name="adj" fmla="val 16667"/>
            </a:avLst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72491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26151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Pareto İzolasyonu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29077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sınıflandırması ile cironun %80'ini üretençen 1.043 A-sınıfı lokomotif ürünü izole ederek model gürültüsünü azaltmak ve hesaplama verimliliğini artırmak.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328416"/>
            <a:ext cx="8595360" cy="694944"/>
          </a:xfrm>
          <a:prstGeom prst="rect">
            <a:avLst/>
          </a:prstGeom>
          <a:solidFill>
            <a:srgbClr val="EEF5FC"/>
          </a:solidFill>
          <a:ln w="12700">
            <a:solidFill>
              <a:srgbClr val="E3F0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328416"/>
            <a:ext cx="64008" cy="69494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3483864"/>
            <a:ext cx="502920" cy="384048"/>
          </a:xfrm>
          <a:prstGeom prst="roundRect">
            <a:avLst>
              <a:gd name="adj" fmla="val 16667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48386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5840" y="337413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 Katkı Analizi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" y="366674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 Serileri, Lag değişkenleri (lag_7 en kritik), EMA ve Momentum özelliklerinin XGBoost Feature Importance ile ölçülmesi. Log uzayında eğitimin etkisi.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4087368"/>
            <a:ext cx="8595360" cy="694944"/>
          </a:xfrm>
          <a:prstGeom prst="rect">
            <a:avLst/>
          </a:prstGeom>
          <a:solidFill>
            <a:srgbClr val="EEF5FC"/>
          </a:solidFill>
          <a:ln w="12700">
            <a:solidFill>
              <a:srgbClr val="E3F0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4087368"/>
            <a:ext cx="64008" cy="69494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" y="4242816"/>
            <a:ext cx="502920" cy="384048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424281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05840" y="41330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İşletme Değeri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05840" y="442569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MAE=£5.504 (XGBoost) ve Stacking R²=0.7361 skorlarını somut stok optimizasyonu ve gelir kaybı önleme senaryolarına tercüme etmek.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VERİ SETİ TANITIMI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Online Retail Dataset — 805.549 İşlem Satırı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2011680" cy="10789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07899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805.549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28600" y="17373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Kayıt Satırı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04872" y="1051560"/>
            <a:ext cx="2011680" cy="10789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04872" y="107899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739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04872" y="17373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Kesintisiz Gün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81144" y="1051560"/>
            <a:ext cx="2011680" cy="107899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81144" y="107899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4.372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81144" y="17373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Benzersiz Ürün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57416" y="1051560"/>
            <a:ext cx="2011680" cy="10789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57416" y="107899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£8.1M+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757416" y="17373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Ciro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240280"/>
          <a:ext cx="8686800" cy="269748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Sütun Adı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Orijinal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Türkçe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Açıklama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55A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55A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FaturaNo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55A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Fatura kimliği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55A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ile başlayanlar iade → silindi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55A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StockCode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55A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StokKodu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55A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Ürün kodu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55A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Tekil ürün tanımlayıcı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55A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55A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Açıklama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55A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Ürün adı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55A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Metin bazlı ürün açıklaması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55A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55A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55A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Sipariş miktarı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55A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Winsorization (3×IQR) uygulandı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55A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55A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FaturaTarihi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55A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Tarih / saat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55A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Günlük zaman serisi oluşturuldu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55A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UnitPrice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55A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BirimFiyat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55A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Birim fiyat (£)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55A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Negatifler temizlendi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55A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55A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MüşteriID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55A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Müşteri kimliği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55A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%24.9 eksik → satır silindi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55A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55A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Ülke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55A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Ülke kodu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55A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 ülke — UK ağırlıklı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VERİ ÖN İŞLEME SÜRECİ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Aşamalı Veri Kalite Pipeline'ı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8686800" cy="667512"/>
          </a:xfrm>
          <a:prstGeom prst="rect">
            <a:avLst/>
          </a:prstGeom>
          <a:solidFill>
            <a:srgbClr val="EEF5FC"/>
          </a:solidFill>
          <a:ln w="12700">
            <a:solidFill>
              <a:srgbClr val="E3F0F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051560"/>
            <a:ext cx="64008" cy="66751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79576"/>
            <a:ext cx="384048" cy="38404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79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11064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İptal İşlemleri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13990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FaturaNo 'C' ile başlayanlar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66160" y="1207008"/>
            <a:ext cx="1417320" cy="329184"/>
          </a:xfrm>
          <a:prstGeom prst="roundRect">
            <a:avLst>
              <a:gd name="adj" fmla="val 19444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120700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Silindi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120640" y="117043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İade faturalar negatif Adet üretir → model bozulur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1801368"/>
            <a:ext cx="8686800" cy="667512"/>
          </a:xfrm>
          <a:prstGeom prst="rect">
            <a:avLst/>
          </a:prstGeom>
          <a:solidFill>
            <a:srgbClr val="EEF5FC"/>
          </a:solidFill>
          <a:ln w="12700">
            <a:solidFill>
              <a:srgbClr val="E3F0F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1801368"/>
            <a:ext cx="64008" cy="66751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1929384"/>
            <a:ext cx="384048" cy="38404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929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18562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Eksik MüşteriID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1488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%24.9 oranında eksik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566160" y="1956816"/>
            <a:ext cx="1417320" cy="329184"/>
          </a:xfrm>
          <a:prstGeom prst="roundRect">
            <a:avLst>
              <a:gd name="adj" fmla="val 19444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0" y="195681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Silindi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120640" y="192024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bazlı segmentasyon için zorunlu alan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8600" y="2551176"/>
            <a:ext cx="8686800" cy="667512"/>
          </a:xfrm>
          <a:prstGeom prst="rect">
            <a:avLst/>
          </a:prstGeom>
          <a:solidFill>
            <a:srgbClr val="EEF5FC"/>
          </a:solidFill>
          <a:ln w="12700">
            <a:solidFill>
              <a:srgbClr val="E3F0F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" y="2551176"/>
            <a:ext cx="64008" cy="66751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2679192"/>
            <a:ext cx="384048" cy="38404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68680" y="2606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Negatif Adet/Fiyat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8680" y="289864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Quantity≤0, UnitPrice≤0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566160" y="2706624"/>
            <a:ext cx="1417320" cy="329184"/>
          </a:xfrm>
          <a:prstGeom prst="roundRect">
            <a:avLst>
              <a:gd name="adj" fmla="val 19444"/>
            </a:avLst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66160" y="270662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Silindi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120640" y="267004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girişi hataları — iş mantığıyla çelişir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28600" y="3300984"/>
            <a:ext cx="8686800" cy="667512"/>
          </a:xfrm>
          <a:prstGeom prst="rect">
            <a:avLst/>
          </a:prstGeom>
          <a:solidFill>
            <a:srgbClr val="EEF5FC"/>
          </a:solidFill>
          <a:ln w="12700">
            <a:solidFill>
              <a:srgbClr val="E3F0F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8600" y="3300984"/>
            <a:ext cx="64008" cy="66751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3429000"/>
            <a:ext cx="384048" cy="38404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68680" y="33558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Winsorization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68680" y="364845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× 3.0 tabanlı sınır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566160" y="3456432"/>
            <a:ext cx="1417320" cy="329184"/>
          </a:xfrm>
          <a:prstGeom prst="roundRect">
            <a:avLst>
              <a:gd name="adj" fmla="val 19444"/>
            </a:avLst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66160" y="345643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Sınırlandırıldı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120640" y="341985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talep sinyalleri korundu, aşırı uçlar ehlileştirildi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28600" y="4050792"/>
            <a:ext cx="8686800" cy="667512"/>
          </a:xfrm>
          <a:prstGeom prst="rect">
            <a:avLst/>
          </a:prstGeom>
          <a:solidFill>
            <a:srgbClr val="EEF5FC"/>
          </a:solidFill>
          <a:ln w="12700">
            <a:solidFill>
              <a:srgbClr val="E3F0F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28600" y="4050792"/>
            <a:ext cx="64008" cy="66751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4178808"/>
            <a:ext cx="384048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68680" y="41056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Ciro Türetme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68680" y="439826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= Quantity × UnitPrice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566160" y="4206240"/>
            <a:ext cx="1417320" cy="329184"/>
          </a:xfrm>
          <a:prstGeom prst="roundRect">
            <a:avLst>
              <a:gd name="adj" fmla="val 19444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566160" y="420624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Oluşturuldu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120640" y="416966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toplam ciro → 739 günlük zaman serisi agregasyonu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228600" y="4828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805.549 ham satır  →  temizleme  →  739 günlük kesintisiz zaman serisi  |  651 gün Eğitim / 60 gün Test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KEŞİFSEL VERİ ANALİZİ (EDA)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Verinin İstatistiksel Profili &amp; Görsel Bulgular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28600" y="1051560"/>
          <a:ext cx="54864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897880" y="1051560"/>
            <a:ext cx="3017520" cy="2926080"/>
          </a:xfrm>
          <a:prstGeom prst="rect">
            <a:avLst/>
          </a:prstGeom>
          <a:solidFill>
            <a:srgbClr val="EEF5FC"/>
          </a:solidFill>
          <a:ln w="12700">
            <a:solidFill>
              <a:srgbClr val="E3F0FB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97880" y="1051560"/>
            <a:ext cx="64008" cy="292608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80760" y="11430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Bulguları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080760" y="1572768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 sonu ivmesi:
</a:t>
            </a: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Eylül–Kasım arası ciro %60-80 artış. Kampanya dönemleri spike yaratır.
</a:t>
            </a: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Haftalık döngü:
</a:t>
            </a: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Perşembe–Cuma zirvesi, hafta sonu düşüşü. 7 günlük Fourier ile kodlandı.
</a:t>
            </a: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Ocak sıfırlama etkisi:
</a:t>
            </a: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Post-tatil düşüşü her yıl tekrarlanmaktadır — mevsimsellik güçlü.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28600" y="4114800"/>
            <a:ext cx="8686800" cy="896112"/>
          </a:xfrm>
          <a:prstGeom prst="rect">
            <a:avLst/>
          </a:prstGeom>
          <a:solidFill>
            <a:srgbClr val="E3F0FB"/>
          </a:solidFill>
          <a:ln w="12700">
            <a:solidFill>
              <a:srgbClr val="E3F0F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4178808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Ortalama Günlük Ciro
</a:t>
            </a: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£11.235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651760" y="4178808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Maksimum Günlük Ciro
</a:t>
            </a: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£135.522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800600" y="4178808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Std. Sapma
</a:t>
            </a: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£14.812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949440" y="4178808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(Değişim Katsayısı)
</a:t>
            </a: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%131.8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ANALİZİ — PARETO PRENSİBİ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1.043 Lokomotif Ürün İzolasyonu — Toplam Cironun %80'i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28600" y="1078992"/>
          <a:ext cx="438912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800600" y="1078992"/>
            <a:ext cx="4114800" cy="1143000"/>
          </a:xfrm>
          <a:prstGeom prst="rect">
            <a:avLst/>
          </a:prstGeom>
          <a:solidFill>
            <a:srgbClr val="EEF5FC"/>
          </a:solidFill>
          <a:ln w="12700">
            <a:solidFill>
              <a:srgbClr val="E3F0FB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800600" y="1078992"/>
            <a:ext cx="64008" cy="11430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56048" y="1161288"/>
            <a:ext cx="73152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56048" y="116128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Sınıfı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806440" y="1161288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1.043 Ürün  |  %80 Ciro
</a:t>
            </a: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Lokomotif ürünler. Tahmin modelimizin odak kitlesi. Bu gruptaki stok tükenmesi kritik gelir kaybı yaratır.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800600" y="2359152"/>
            <a:ext cx="4114800" cy="1143000"/>
          </a:xfrm>
          <a:prstGeom prst="rect">
            <a:avLst/>
          </a:prstGeom>
          <a:solidFill>
            <a:srgbClr val="EEF5FC"/>
          </a:solidFill>
          <a:ln w="12700">
            <a:solidFill>
              <a:srgbClr val="E3F0FB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00600" y="2359152"/>
            <a:ext cx="64008" cy="11430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956048" y="2441448"/>
            <a:ext cx="731520" cy="3657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56048" y="24414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Sınıfı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806440" y="2441448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~1.800 Ürün  |  %15 Ciro
</a:t>
            </a: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 değer ürünler. Lojistik planlamada gözetilir ancak model eğitiminde kapsanmaz.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800600" y="3639312"/>
            <a:ext cx="4114800" cy="1143000"/>
          </a:xfrm>
          <a:prstGeom prst="rect">
            <a:avLst/>
          </a:prstGeom>
          <a:solidFill>
            <a:srgbClr val="EEF5FC"/>
          </a:solidFill>
          <a:ln w="12700">
            <a:solidFill>
              <a:srgbClr val="E3F0FB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800600" y="3639312"/>
            <a:ext cx="64008" cy="114300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956048" y="3721608"/>
            <a:ext cx="731520" cy="36576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56048" y="372160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Sınıfı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806440" y="3721608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~1.500 Ürün  |  %5 Ciro
</a:t>
            </a: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Uzun kuyruk ürünler. Düşük sinyal/gürültü oranı model performansını düşürür → hariç tutuldu.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28600" y="4828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Akademik Yorum: Pareto ilkesi bu veri setinde birebir doğrulanmıştır. A sınıfı izolasyonu hem hesaplama verimliliğini artırmış hem de sinyal/gürültü oranını maksimize etmiştir.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ÖZELLİK MÜHENDİSLİĞİ — 38 DEĞİŞKEN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 XGBoost hem Bi-LSTM'e Girdi Sağlayan Multivariate Özellik Seti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4251960" cy="1828800"/>
          </a:xfrm>
          <a:prstGeom prst="rect">
            <a:avLst/>
          </a:prstGeom>
          <a:solidFill>
            <a:srgbClr val="EEF5FC"/>
          </a:solidFill>
          <a:ln w="12700">
            <a:solidFill>
              <a:srgbClr val="E3F0FB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51560"/>
            <a:ext cx="64008" cy="1828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" y="1143000"/>
            <a:ext cx="2377440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11430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 Serileri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6 özellik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55448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sin(2π·t/7)  ·  cos(2π·t/7)  ·  sin(2π·t/30)  ·  cos(2π·t/30)  ·  sin(2π·t/365)  ·  cos(2π·t/365)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38328" y="2057400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Haftalık, aylık ve yıllık döngüleri trigonometrik fonksiyonlarla kodlar. XGBoost'ta Feature Importance'da üst sıralarda yer alır.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90872" y="1051560"/>
            <a:ext cx="4251960" cy="1828800"/>
          </a:xfrm>
          <a:prstGeom prst="rect">
            <a:avLst/>
          </a:prstGeom>
          <a:solidFill>
            <a:srgbClr val="EEF5FC"/>
          </a:solidFill>
          <a:ln w="12700">
            <a:solidFill>
              <a:srgbClr val="E3F0FB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90872" y="1051560"/>
            <a:ext cx="64008" cy="18288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0600" y="1143000"/>
            <a:ext cx="2377440" cy="32918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1430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Değişkenleri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6 özellik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155448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lag_1  ·  lag_3  ·  lag_7  ·  lag_14  ·  lag_21  ·  lag_28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00600" y="2057400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lag_7 ve lag_14 Feature Importance'ın zirvesinde. Model geçmişi 'hatırlayarak' tahmin yapar. LSTM penceresi lookback=21.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3044952"/>
            <a:ext cx="4251960" cy="1828800"/>
          </a:xfrm>
          <a:prstGeom prst="rect">
            <a:avLst/>
          </a:prstGeom>
          <a:solidFill>
            <a:srgbClr val="EEF5FC"/>
          </a:solidFill>
          <a:ln w="12700">
            <a:solidFill>
              <a:srgbClr val="E3F0FB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3044952"/>
            <a:ext cx="64008" cy="18288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328" y="3136392"/>
            <a:ext cx="2377440" cy="32918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" y="31363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Hareketli İstatistikler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9 özellik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8328" y="3547872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rolling_mean_7  ·  rolling_mean_14  ·  rolling_mean_28  ·  rolling_std_7  ·  rolling_std_14  ·  rolling_std_28  ·  EMA_7  ·  EMA_14  ·  EMA_21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8328" y="4050792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Kısa/uzun vadeli trend ve volatilite sinyalleri. EMA son gözlemlere daha fazla ağırlık verir.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90872" y="3044952"/>
            <a:ext cx="4251960" cy="1828800"/>
          </a:xfrm>
          <a:prstGeom prst="rect">
            <a:avLst/>
          </a:prstGeom>
          <a:solidFill>
            <a:srgbClr val="EEF5FC"/>
          </a:solidFill>
          <a:ln w="12700">
            <a:solidFill>
              <a:srgbClr val="E3F0FB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90872" y="3044952"/>
            <a:ext cx="64008" cy="1828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3136392"/>
            <a:ext cx="2377440" cy="32918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1363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Takvim &amp; Momentum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17 özellik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3547872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day_of_week  ·  month  ·  quarter  ·  is_weekend  ·  is_month_end  ·  is_quarter_end  ·  momentum_7  ·  momentum_14  ·  ... +9 daha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00600" y="4050792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Kampanya dönemlerini bayrak değişkenleriyle işaretler. Momentum, son 7/14 günün trend yönünü sayısal kodlar.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8600" y="498348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38 özellik XGBoost'a doğrudan girdi olarak verilir; aynı zamanda Bi-LSTM'e de [log_ciro | tüm özellikler] multivariate pencere olarak beslenir.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VERİ DÖNÜŞÜMÜ — np.log1p() &amp; MinMaxScaler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Uzayı Eğitimi + Ters Dönüşüm Pipeline'ı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28600" y="1051560"/>
          <a:ext cx="416052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4572000" y="1051560"/>
          <a:ext cx="43434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228600" y="3749040"/>
            <a:ext cx="4160520" cy="1298448"/>
          </a:xfrm>
          <a:prstGeom prst="rect">
            <a:avLst/>
          </a:prstGeom>
          <a:solidFill>
            <a:srgbClr val="EEF5FC"/>
          </a:solidFill>
          <a:ln w="12700">
            <a:solidFill>
              <a:srgbClr val="E3F0FB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228600" y="3749040"/>
            <a:ext cx="64008" cy="12984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93192" y="38221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Pipeline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93192" y="420624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y_train_log = np.log1p(y_train)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55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XGBoost → log uzayında eğitilir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55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Tahmin: np.expm1(xgb.predict(X))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0" y="3749040"/>
            <a:ext cx="4343400" cy="1298448"/>
          </a:xfrm>
          <a:prstGeom prst="rect">
            <a:avLst/>
          </a:prstGeom>
          <a:solidFill>
            <a:srgbClr val="EEF5FC"/>
          </a:solidFill>
          <a:ln w="12700">
            <a:solidFill>
              <a:srgbClr val="E3F0FB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72000" y="3749040"/>
            <a:ext cx="64008" cy="129844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736592" y="382219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Bi-LSTM Pipeline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736592" y="4206240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log1p → MinMaxScaler([0,1]) → Bi-LSTM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55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Çıkış: MinMaxScaler.inverse → log uzayı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55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Tahmin: np.expm1(lstm_scaler.inverse(pred))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SARIMAX — BASELINE İSTATİSTİKSEL MODEL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(1,1,1)×(1,0,1,7) | ADF Durağanlık Testi ile Belirlendi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4206240" cy="2286000"/>
          </a:xfrm>
          <a:prstGeom prst="rect">
            <a:avLst/>
          </a:prstGeom>
          <a:solidFill>
            <a:srgbClr val="EEF5FC"/>
          </a:solidFill>
          <a:ln w="12700">
            <a:solidFill>
              <a:srgbClr val="E3F0FB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51560"/>
            <a:ext cx="64008" cy="2286000"/>
          </a:xfrm>
          <a:prstGeom prst="rect">
            <a:avLst/>
          </a:prstGeom>
          <a:solidFill>
            <a:srgbClr val="455A64"/>
          </a:solidFill>
          <a:ln w="12700">
            <a:solidFill>
              <a:srgbClr val="455A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14300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Konfigürasyonu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5544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1  </a:t>
            </a: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gecikmesi — 1 önceki değer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80136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1  </a:t>
            </a: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Dereceden fark alma (durağanlaştırma)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2048256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1  </a:t>
            </a: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terimi — 1 önceki hata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2295144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1  </a:t>
            </a: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Mevsimsel AR (7 günlük)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2542032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0  </a:t>
            </a: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Mevsimsel fark yok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" y="278892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1  </a:t>
            </a: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Mevsimsel MA (7 günlük)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" y="303580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7  </a:t>
            </a: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Mevsimsel periyot = hafta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1051560"/>
            <a:ext cx="4251960" cy="2286000"/>
          </a:xfrm>
          <a:prstGeom prst="rect">
            <a:avLst/>
          </a:prstGeom>
          <a:solidFill>
            <a:srgbClr val="EEF5FC"/>
          </a:solidFill>
          <a:ln w="12700">
            <a:solidFill>
              <a:srgbClr val="E3F0FB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1051560"/>
            <a:ext cx="64008" cy="22860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1143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Durağanlık Testi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73168" y="155448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Seri:
</a:t>
            </a:r>
            <a:r>
              <a:rPr lang="en-US" sz="11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= −2.318  |  p = 0.168  →  DURAĞAN DEĞİL
</a:t>
            </a: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Dereceden Fark:
</a:t>
            </a:r>
            <a:r>
              <a:rPr lang="en-US" sz="11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= −18.74  |  p &lt; 0.001  →  DURAĞAN ✓
</a:t>
            </a:r>
            <a:r>
              <a:rPr lang="en-US" sz="1000" i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Karar: d=1 ile fark alındı. SARIMAX(1,1,1)×(1,0,1,7) konfigürasyonu test istatistiğine dayalı belirlendi.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" y="3456432"/>
            <a:ext cx="8686800" cy="1572768"/>
          </a:xfrm>
          <a:prstGeom prst="rect">
            <a:avLst/>
          </a:prstGeom>
          <a:solidFill>
            <a:srgbClr val="EEF5FC"/>
          </a:solidFill>
          <a:ln w="12700">
            <a:solidFill>
              <a:srgbClr val="E3F0FB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3456432"/>
            <a:ext cx="64008" cy="1572768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54787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SARIMAX Performans Sonuçları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4048" y="39319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 £7.464,17  |  RMSE: £9.307,79  |  R²: 0.5724
</a:t>
            </a: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SARIMAX doğrusal ilişkileri ve mevsimsel döngüleri kısmen yakalar. Kampanya dönemlerindeki ani satış sıçramalarını sistematik olarak hafife alır. R²=0.5724 tüm gelişmiş modeller için kritik referans noktasıdır.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349240" y="3566160"/>
            <a:ext cx="1920240" cy="749808"/>
          </a:xfrm>
          <a:prstGeom prst="rect">
            <a:avLst/>
          </a:prstGeom>
          <a:solidFill>
            <a:srgbClr val="455A64"/>
          </a:solidFill>
          <a:ln w="12700">
            <a:solidFill>
              <a:srgbClr val="455A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49240" y="359359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£7.5K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349240" y="404164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406640" y="3566160"/>
            <a:ext cx="1920240" cy="749808"/>
          </a:xfrm>
          <a:prstGeom prst="rect">
            <a:avLst/>
          </a:prstGeom>
          <a:solidFill>
            <a:srgbClr val="455A64"/>
          </a:solidFill>
          <a:ln w="12700">
            <a:solidFill>
              <a:srgbClr val="455A6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06640" y="359359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0.5724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406640" y="404164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Skoru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— EN DÜŞÜK MAE MODELİ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Log-XGBoost | MAE: £5.504 | R²: 0.7184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4114800" cy="2423160"/>
          </a:xfrm>
          <a:prstGeom prst="rect">
            <a:avLst/>
          </a:prstGeom>
          <a:solidFill>
            <a:srgbClr val="EEF5FC"/>
          </a:solidFill>
          <a:ln w="12700">
            <a:solidFill>
              <a:srgbClr val="E3F0FB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51560"/>
            <a:ext cx="64008" cy="24231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1430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Hiperparametreler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5361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n_estimators:  </a:t>
            </a: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17739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max_depth:  </a:t>
            </a: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2011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learning_rate:  </a:t>
            </a: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4048" y="224942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subsample:  </a:t>
            </a: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4048" y="24871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colsample_bytree:  </a:t>
            </a: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4048" y="27249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min_child_weight:  </a:t>
            </a: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4048" y="29626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reg_alpha (L1):  </a:t>
            </a: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84048" y="32004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reg_lambda (L2):  </a:t>
            </a: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</a:t>
            </a:r>
            <a:endParaRPr lang="en-US" sz="105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4526280" y="1051560"/>
          <a:ext cx="438912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Shape 15"/>
          <p:cNvSpPr/>
          <p:nvPr/>
        </p:nvSpPr>
        <p:spPr>
          <a:xfrm>
            <a:off x="228600" y="3584448"/>
            <a:ext cx="8686800" cy="1481328"/>
          </a:xfrm>
          <a:prstGeom prst="rect">
            <a:avLst/>
          </a:prstGeom>
          <a:solidFill>
            <a:srgbClr val="E3F0FB"/>
          </a:solidFill>
          <a:ln w="12700">
            <a:solidFill>
              <a:srgbClr val="E3F0F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4048" y="36576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Sonuçları — Bireysel Modeller Arasında En Düşük MAE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84048" y="404164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 £5.504,07  |  RMSE: £7.554  |  R²: 0.7184  
</a:t>
            </a:r>
            <a:r>
              <a:rPr lang="en-US" sz="1050" dirty="0" smtClean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lag_7</a:t>
            </a:r>
            <a:r>
              <a:rPr lang="tr-TR" sz="1050" dirty="0" smtClean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 sin_hafta_1</a:t>
            </a:r>
            <a:r>
              <a:rPr lang="en-US" sz="1050" dirty="0" smtClean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 smtClean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050" dirty="0" smtClean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güçlü özellikler. Fourier terimleri haftalık döngüleri, momentum değişkenleri trend yönünü başarıyla kodlamıştır. XGBoost en düşük MAE'yi tek başına elde eden modeldir.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537960" y="3639312"/>
            <a:ext cx="1920240" cy="7498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37960" y="366674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£5.5K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537960" y="411480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(En Düşük!)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8503920" y="3639312"/>
            <a:ext cx="1920240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503920" y="366674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0.7184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8503920" y="411480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Skoru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DEĞİŞKENLİ Bİ-LSTM — MİMARİ ANALİZİ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lookback=21 | [log_ciro | 38 özellik] Multivariate Pencere | Huber Loss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4343400" cy="3931920"/>
          </a:xfrm>
          <a:prstGeom prst="rect">
            <a:avLst/>
          </a:prstGeom>
          <a:solidFill>
            <a:srgbClr val="EEF5FC"/>
          </a:solidFill>
          <a:ln w="12700">
            <a:solidFill>
              <a:srgbClr val="E3F0FB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51560"/>
            <a:ext cx="64008" cy="39319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143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Mimari Katmanlar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1572768"/>
            <a:ext cx="4023360" cy="338328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572768"/>
            <a:ext cx="4023360" cy="3383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</a:t>
            </a: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× (n_features+1) çok değişkenli pencere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" y="1956816"/>
            <a:ext cx="4023360" cy="33832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956816"/>
            <a:ext cx="4023360" cy="3383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Bi-LSTM (64)  </a:t>
            </a: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İleri + Geri yönlü | return_sequences=True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" y="2340864"/>
            <a:ext cx="4023360" cy="338328"/>
          </a:xfrm>
          <a:prstGeom prst="rect">
            <a:avLst/>
          </a:prstGeom>
          <a:solidFill>
            <a:srgbClr val="455A64"/>
          </a:solidFill>
          <a:ln w="12700">
            <a:solidFill>
              <a:srgbClr val="455A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340864"/>
            <a:ext cx="4023360" cy="3383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0.25  </a:t>
            </a: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Aşırı uyuma karşı düzenleme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" y="2724912"/>
            <a:ext cx="4023360" cy="3383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724912"/>
            <a:ext cx="4023360" cy="3383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(32)  </a:t>
            </a: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Kısa vadeli dinamikler — tek yönlü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" y="3108960"/>
            <a:ext cx="4023360" cy="338328"/>
          </a:xfrm>
          <a:prstGeom prst="rect">
            <a:avLst/>
          </a:prstGeom>
          <a:solidFill>
            <a:srgbClr val="455A64"/>
          </a:solidFill>
          <a:ln w="12700">
            <a:solidFill>
              <a:srgbClr val="455A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108960"/>
            <a:ext cx="4023360" cy="3383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0.15  </a:t>
            </a: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İkinci düzenleme katmanı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4048" y="3493008"/>
            <a:ext cx="4023360" cy="3383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493008"/>
            <a:ext cx="4023360" cy="3383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(32)  </a:t>
            </a: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aktivasyonu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4048" y="3877056"/>
            <a:ext cx="4023360" cy="338328"/>
          </a:xfrm>
          <a:prstGeom prst="rect">
            <a:avLst/>
          </a:prstGeom>
          <a:solidFill>
            <a:srgbClr val="455A64"/>
          </a:solidFill>
          <a:ln w="12700">
            <a:solidFill>
              <a:srgbClr val="455A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877056"/>
            <a:ext cx="4023360" cy="3383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0.10  </a:t>
            </a: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Üçüncü düzenleme katmanı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4048" y="4261104"/>
            <a:ext cx="4023360" cy="3383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4261104"/>
            <a:ext cx="4023360" cy="3383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(1)  </a:t>
            </a: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Çıkış — [0,1] ölçekli log-ciro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1051560"/>
            <a:ext cx="4160520" cy="1920240"/>
          </a:xfrm>
          <a:prstGeom prst="rect">
            <a:avLst/>
          </a:prstGeom>
          <a:solidFill>
            <a:srgbClr val="EEF5FC"/>
          </a:solidFill>
          <a:ln w="12700">
            <a:solidFill>
              <a:srgbClr val="E3F0FB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051560"/>
            <a:ext cx="64008" cy="19202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11430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Konfigürasyonu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19472" y="15544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 </a:t>
            </a: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Huber Loss (MAE+MSE hibrit)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19472" y="18105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  </a:t>
            </a: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(lr=0.001)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919472" y="206654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Size:  </a:t>
            </a: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19472" y="23225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Epoch:  </a:t>
            </a: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19472" y="25786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Stopping:  </a:t>
            </a: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patience=20, best weights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919472" y="283464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Scheduler:  </a:t>
            </a: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ReduceLROnPlateau factor=0.4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54880" y="3063240"/>
            <a:ext cx="4160520" cy="192024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3063240"/>
            <a:ext cx="4160520" cy="640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9472" y="31546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Tek Başına Bi-LSTM Performansı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919472" y="3547872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 £9.532,5  |  RMSE: £12.348,22  |  R²: 0.2475
</a:t>
            </a:r>
            <a:r>
              <a:rPr lang="en-US" sz="10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Bi-LSTM tek başına e-ticaret gürültüsünde zayıf kalmaktadır. E-ticaret verisinin yüksek volatilitesi (CV&gt;%130) saf derin öğrenme modellerini zorlar. Ancak Stacking içinde XGBoost ile birleştiğinde zaman bağımlılıklarını kodlayarak R²=0.7361'e katkı sağlamaktadır.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46304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HİBRİT STACKING MİMARİSİ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(log uzayı) + Bi-LSTM (multivariate) + Ridge Regresyon — İki Katmanlı Ensemble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111556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 1 — TEMEL ÖĞRENICILER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481328"/>
            <a:ext cx="2606040" cy="1325880"/>
          </a:xfrm>
          <a:prstGeom prst="rect">
            <a:avLst/>
          </a:prstGeom>
          <a:solidFill>
            <a:srgbClr val="13224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481328"/>
            <a:ext cx="260604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57276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1975104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özellik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uzayı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R²=0.7184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82112" y="1481328"/>
            <a:ext cx="2606040" cy="1325880"/>
          </a:xfrm>
          <a:prstGeom prst="rect">
            <a:avLst/>
          </a:prstGeom>
          <a:solidFill>
            <a:srgbClr val="132240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82112" y="1481328"/>
            <a:ext cx="2606040" cy="6400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82112" y="157276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Bi-LSTM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82112" y="1975104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[log_ciro|38 öz.]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lookback=21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Huber loss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R²=0.2475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9904" y="1481328"/>
            <a:ext cx="2606040" cy="1325880"/>
          </a:xfrm>
          <a:prstGeom prst="rect">
            <a:avLst/>
          </a:prstGeom>
          <a:solidFill>
            <a:srgbClr val="132240"/>
          </a:solidFill>
          <a:ln w="12700">
            <a:solidFill>
              <a:srgbClr val="455A6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9904" y="1481328"/>
            <a:ext cx="2606040" cy="64008"/>
          </a:xfrm>
          <a:prstGeom prst="rect">
            <a:avLst/>
          </a:prstGeom>
          <a:solidFill>
            <a:srgbClr val="455A64"/>
          </a:solidFill>
          <a:ln w="12700">
            <a:solidFill>
              <a:srgbClr val="455A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9904" y="157276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SARIMAX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89904" y="1975104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(1,1,1)×(1,0,1,7)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İstatistiksel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Doğrusal temel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R²=0.5724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" y="28803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uzayı tahminleri  ↓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154680"/>
            <a:ext cx="8321040" cy="36576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27355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 2 — META ÖĞRENICI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0" y="3639312"/>
            <a:ext cx="4572000" cy="804672"/>
          </a:xfrm>
          <a:prstGeom prst="rect">
            <a:avLst/>
          </a:prstGeom>
          <a:solidFill>
            <a:srgbClr val="132240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0" y="3639312"/>
            <a:ext cx="4572000" cy="640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0" y="373075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Regresyon (α = 1.0)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286000" y="40965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ve Bi-LSTM log-tahminlerini optimal ağırlıklarla birleştirir | L2 düzenleme — overfitting korumalı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" y="452628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Katsayıları:  w₁(XGBoost) ≈ 0.72  |  w₂(Bi-LSTM) ≈ 0.28  |  intercept ≈ 0.12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46320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ENSEMBLE  →  MAE: £5.743,18  |  RMSE: £7.312,65  |  R²: 0.7361  |  Bireysel en iyi modelden +2.5 puan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BAŞARI KANITLARI — TAHMİN vs. GERÇEK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Günlük Test Penceresi — Stacking Ensemble Performansı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28600" y="1051560"/>
          <a:ext cx="868680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228600" y="4206240"/>
            <a:ext cx="2084832" cy="8046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28600" y="4206240"/>
            <a:ext cx="2084832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£5.7K
</a:t>
            </a: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MAE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404872" y="4206240"/>
            <a:ext cx="2084832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404872" y="4206240"/>
            <a:ext cx="2084832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£7.3K
</a:t>
            </a: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RMSE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581144" y="4206240"/>
            <a:ext cx="2084832" cy="80467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581144" y="4206240"/>
            <a:ext cx="2084832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0.7361
</a:t>
            </a: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R²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757416" y="4206240"/>
            <a:ext cx="2084832" cy="80467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757416" y="4206240"/>
            <a:ext cx="2084832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£5.5K
</a:t>
            </a: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MAE (En Düşük)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vs. PREDICTED — TÜM MODEL SCATTER ANALİZİ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45° Referans Hattına Yakınsama: XGBoost ve Stacking Güçlü | Bi-LSTM Zayıf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28600" y="1051560"/>
          <a:ext cx="425196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4709160" y="1051560"/>
          <a:ext cx="425196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Chart 2"/>
          <p:cNvGraphicFramePr/>
          <p:nvPr/>
        </p:nvGraphicFramePr>
        <p:xfrm>
          <a:off x="228600" y="3246120"/>
          <a:ext cx="425196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9" name="Chart 3"/>
          <p:cNvGraphicFramePr/>
          <p:nvPr/>
        </p:nvGraphicFramePr>
        <p:xfrm>
          <a:off x="4709160" y="3246120"/>
          <a:ext cx="425196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0" name="Shape 4"/>
          <p:cNvSpPr/>
          <p:nvPr/>
        </p:nvSpPr>
        <p:spPr>
          <a:xfrm>
            <a:off x="0" y="5010912"/>
            <a:ext cx="9144000" cy="12801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274320" y="5020056"/>
            <a:ext cx="8595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Bi-LSTM tek başına dağınık scatter → R²=0.2475 | XGBoost ve Stacking 45° hattına yakınsıyor → R²&gt;0.71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KARŞILAŞTIRMA TABLOSU — GERÇEK SONUÇLAR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Nihai Kod Çıktısından Alınan Doğrulanmış Metrikler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051560"/>
          <a:ext cx="8686800" cy="3520440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Mimarisi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(£)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(£)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Skoru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SARIMAX'a Kıyasla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55A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SARIMAX (Baseline)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55A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55A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55A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55A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Referans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Log-XGBoost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5.504  ★ En Düşük!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+25.5%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A1B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Çok Değişkenli Bi-LSTM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9.533  ⚠ Yüksek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12.348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0.2475  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−56.7%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 Stacking Ensemble (XGB + Bi-LSTM + Ridge)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9A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0.7361  🏆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9A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+28.6% 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28600" y="4663440"/>
            <a:ext cx="8686800" cy="45720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4681728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Kritik Bulgu: </a:t>
            </a:r>
            <a:r>
              <a:rPr lang="en-US" sz="10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Bi-LSTM tek başına R²=0.2475 ile zayıf kalmaktadır. Ancak Stacking içinde Ridge meta-öğrenicisi sayesinde XGBoost ile birleşerek R²=0.7361'e (en yüksek) katkı sağlamaktadır. Bu sonuç, hibrit mimarinin gücünü kanıtlamaktadır.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PERFORMANS GRAFİKLERİ — GERÇEK DEĞERLER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ve MAE Karşılaştırması | Doğrulanmış Nihai Metrikler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28600" y="1051560"/>
          <a:ext cx="53035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228600" y="4370832"/>
          <a:ext cx="5303520" cy="685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5715000" y="1051560"/>
            <a:ext cx="3200400" cy="3977640"/>
          </a:xfrm>
          <a:prstGeom prst="rect">
            <a:avLst/>
          </a:prstGeom>
          <a:solidFill>
            <a:srgbClr val="EEF5FC"/>
          </a:solidFill>
          <a:ln w="12700">
            <a:solidFill>
              <a:srgbClr val="E3F0FB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715000" y="1051560"/>
            <a:ext cx="64008" cy="39776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870448" y="1143000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 Bulgular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870448" y="1572768"/>
            <a:ext cx="28803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— En Düşük MAE:
</a:t>
            </a: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£5.504 ile bireysel modeller arasında en düşük ortalama hatayı XGBoost elde etmiştir.
</a:t>
            </a: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Bi-LSTM Sürprizi:
</a:t>
            </a: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R²=0.2475 ile e-ticaret gürültüsünde tek başına yetersiz. Yüksek CV&gt;%130 saf derin öğrenmeyi zorlar.
</a:t>
            </a: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— En Yüksek R²:
</a:t>
            </a: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meta-öğrenicisi XGBoost'u ön plana çıkararak ve Bi-LSTM'in zaman sinyalini harmanlayarak R²=0.7361 zirvesine ulaşır.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SONUÇLAR &amp; İŞLETME KATKISI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R²: 0.7361 — Stacking Ensemble Şampiyonluğu | MAE: £5.504 (XGBoost)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2377440" cy="2331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1155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3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28600" y="1664208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0.7361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28600" y="248716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3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3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88920" y="1051560"/>
            <a:ext cx="3017520" cy="1115568"/>
          </a:xfrm>
          <a:prstGeom prst="rect">
            <a:avLst/>
          </a:prstGeom>
          <a:solidFill>
            <a:srgbClr val="EEF5FC"/>
          </a:solidFill>
          <a:ln w="12700">
            <a:solidFill>
              <a:srgbClr val="E3F0FB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88920" y="1051560"/>
            <a:ext cx="64008" cy="11155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44368" y="1143000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 Optimizasyonu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44368" y="1490472"/>
            <a:ext cx="2724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£5.504 (XGBoost) ile stok sipariş hatası minimize edildi. Aşırı stok (bağlı sermaye) ve stok tükenmesi (gelir kaybı) riski eş zamanlı azaltıldı.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71032" y="1051560"/>
            <a:ext cx="3017520" cy="1115568"/>
          </a:xfrm>
          <a:prstGeom prst="rect">
            <a:avLst/>
          </a:prstGeom>
          <a:solidFill>
            <a:srgbClr val="EEF5FC"/>
          </a:solidFill>
          <a:ln w="12700">
            <a:solidFill>
              <a:srgbClr val="E3F0FB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71032" y="1051560"/>
            <a:ext cx="64008" cy="11155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143000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Gücü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1490472"/>
            <a:ext cx="2724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R²=0.7361, günlük cironun %73.6'sının model tarafından açıklandığı anlamına gelir. Kalan %26.4 beklenmedik kampanya şoklarıdır.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88920" y="2286000"/>
            <a:ext cx="3017520" cy="1115568"/>
          </a:xfrm>
          <a:prstGeom prst="rect">
            <a:avLst/>
          </a:prstGeom>
          <a:solidFill>
            <a:srgbClr val="EEF5FC"/>
          </a:solidFill>
          <a:ln w="12700">
            <a:solidFill>
              <a:srgbClr val="E3F0FB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88920" y="2286000"/>
            <a:ext cx="64008" cy="111556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44368" y="2377440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Hibrit Tasarım Doğrulandı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944368" y="2724912"/>
            <a:ext cx="2724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Bi-LSTM tek başına zayıf (R²=0.2475) iken Stacking içinde XGBoost ile birleşince sistem zirvesine taşınır. Komplementer güç.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71032" y="2286000"/>
            <a:ext cx="3017520" cy="1115568"/>
          </a:xfrm>
          <a:prstGeom prst="rect">
            <a:avLst/>
          </a:prstGeom>
          <a:solidFill>
            <a:srgbClr val="EEF5FC"/>
          </a:solidFill>
          <a:ln w="12700">
            <a:solidFill>
              <a:srgbClr val="E3F0FB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71032" y="2286000"/>
            <a:ext cx="64008" cy="111556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2377440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Ölçeklenebilirlik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26480" y="2724912"/>
            <a:ext cx="2724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1.043 A-sınıfı ürün için çalışan bu mimari tüm portföye genişletilebilir. Kafka+Spark ile gerçek zamanlı pipeline kurulabilir.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8600" y="3593592"/>
            <a:ext cx="8686800" cy="1481328"/>
          </a:xfrm>
          <a:prstGeom prst="rect">
            <a:avLst/>
          </a:prstGeom>
          <a:solidFill>
            <a:srgbClr val="E3F0FB"/>
          </a:solidFill>
          <a:ln w="12700">
            <a:solidFill>
              <a:srgbClr val="E3F0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36576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Akademik Katkılar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84048" y="4050792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farklı modelleme paradigmasının karşılaştırmalı analizi: İstatistiksel / ML / Derin Öğrenme.
</a:t>
            </a: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 LSTM'in e-ticaret volatilitesinde tek başına yetersiz kaldığının ampirik kanıtı (R²=0.2475).
</a:t>
            </a: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meta-öğrenicili Stacking Ensemble'ın bireysel en iyi modelden +2.5 puan üstün olduğunun kanıtı (R²=0.7361).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 ARAŞTIRMA YÖNLERİ &amp; TEŞEKKÜR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32688"/>
            <a:ext cx="4251960" cy="1234440"/>
          </a:xfrm>
          <a:prstGeom prst="rect">
            <a:avLst/>
          </a:prstGeom>
          <a:solidFill>
            <a:srgbClr val="0D213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32688"/>
            <a:ext cx="425196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15568"/>
            <a:ext cx="384048" cy="38404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069848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Zamanlı Sistem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408176"/>
            <a:ext cx="3547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+ Spark Streaming pipeline ile modeli canlı ortama taşımak. Her saatte model güncellemesi ile dinamik stok yönetimi.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90872" y="932688"/>
            <a:ext cx="4251960" cy="1234440"/>
          </a:xfrm>
          <a:prstGeom prst="rect">
            <a:avLst/>
          </a:prstGeom>
          <a:solidFill>
            <a:srgbClr val="0D2137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90872" y="932688"/>
            <a:ext cx="4251960" cy="5486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82312" y="1115568"/>
            <a:ext cx="384048" cy="38404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85232" y="1069848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Mimarileri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85232" y="1408176"/>
            <a:ext cx="3547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Fusion Transformer (TFT) ve Informer modelleriyle Bi-LSTM karşılaştırması — TFT düşük R² sorununu çözebilir mi?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258568"/>
            <a:ext cx="4251960" cy="1234440"/>
          </a:xfrm>
          <a:prstGeom prst="rect">
            <a:avLst/>
          </a:prstGeom>
          <a:solidFill>
            <a:srgbClr val="0D2137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2258568"/>
            <a:ext cx="425196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441448"/>
            <a:ext cx="384048" cy="38404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441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2395728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Açıklanabilir YZ (XAI)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2734056"/>
            <a:ext cx="3547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değerleri ile XGBoost tahmin kararlarının iş birimlerine anlaşılır biçimde sunulması. Kara kutu sorununun çözümü.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90872" y="2258568"/>
            <a:ext cx="4251960" cy="1234440"/>
          </a:xfrm>
          <a:prstGeom prst="rect">
            <a:avLst/>
          </a:prstGeom>
          <a:solidFill>
            <a:srgbClr val="0D2137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90872" y="2258568"/>
            <a:ext cx="425196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82312" y="2441448"/>
            <a:ext cx="384048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82312" y="2441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85232" y="2395728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Bazlı Tahmin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85232" y="2734056"/>
            <a:ext cx="3547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ciro tahmininden bireysel ürün (SKU) tahmine geçiş. Çok görevli öğrenme (Multi-Task Learning) yaklaşımı.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" y="3630168"/>
            <a:ext cx="8686800" cy="1353312"/>
          </a:xfrm>
          <a:prstGeom prst="rect">
            <a:avLst/>
          </a:prstGeom>
          <a:solidFill>
            <a:srgbClr val="0D2137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3630168"/>
            <a:ext cx="86868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 spc="6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E Ş E K K Ü R L E R
</a:t>
            </a: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Edanur Demirel  |  Danışman: Prof. Dr. Serpil Türkyılmaz  |  Bilecik Şeyh Edebali Üniversitesi — 2025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0" y="5020056"/>
            <a:ext cx="9144000" cy="10972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2327</Words>
  <Application>Microsoft Office PowerPoint</Application>
  <PresentationFormat>Ekran Gösterisi (16:9)</PresentationFormat>
  <Paragraphs>362</Paragraphs>
  <Slides>20</Slides>
  <Notes>20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20</vt:i4>
      </vt:variant>
    </vt:vector>
  </HeadingPairs>
  <TitlesOfParts>
    <vt:vector size="24" baseType="lpstr">
      <vt:lpstr>Arial</vt:lpstr>
      <vt:lpstr>Calibri</vt:lpstr>
      <vt:lpstr>Consolas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E-Ticaret Satış Tahminleme — Hibrit ML (Düzeltilmiş)</dc:title>
  <dc:subject>PptxGenJS Presentation</dc:subject>
  <dc:creator>Edanur Demirel</dc:creator>
  <cp:lastModifiedBy>asus</cp:lastModifiedBy>
  <cp:revision>3</cp:revision>
  <dcterms:created xsi:type="dcterms:W3CDTF">2026-05-16T10:37:17Z</dcterms:created>
  <dcterms:modified xsi:type="dcterms:W3CDTF">2026-05-16T21:41:03Z</dcterms:modified>
</cp:coreProperties>
</file>